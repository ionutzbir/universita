
<file path=[Content_Types].xml><?xml version="1.0" encoding="utf-8"?>
<Types xmlns="http://schemas.openxmlformats.org/package/2006/content-types">
  <Default Extension="xml" ContentType="application/xml"/>
  <Default Extension="svg" ContentType="image/svg+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tableStyles.xml" ContentType="application/vnd.openxmlformats-officedocument.presentationml.tableStyles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saveSubsetFonts="1" strictFirstAndLastChars="0">
  <p:sldMasterIdLst>
    <p:sldMasterId id="2147483648" r:id="rId1"/>
  </p:sldMasterIdLst>
  <p:notesMasterIdLst>
    <p:notesMasterId r:id="rId2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  <a:defRPr lang="it-IT"/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46F890A9-2807-4EBB-B81D-B2AA78EC7F39}">
  <a:tblStyle styleId="{46F890A9-2807-4EBB-B81D-B2AA78EC7F39}" styleName="Dark Style 2 - Accent 5/Accent 6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noFill/>
            </a:ln>
          </a:left>
          <a:right>
            <a:ln w="12700">
              <a:noFill/>
            </a:ln>
          </a:right>
          <a:top>
            <a:ln w="12700">
              <a:noFill/>
            </a:ln>
          </a:top>
          <a:bottom>
            <a:ln w="12700">
              <a:noFill/>
            </a:ln>
          </a:bottom>
          <a:insideH>
            <a:ln w="12700">
              <a:noFill/>
            </a:ln>
          </a:insideH>
          <a:insideV>
            <a:ln w="12700"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  <a:fill>
          <a:solidFill>
            <a:schemeClr val="accent5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dk1"/>
      </a:tcTxStyle>
      <a:tcStyle>
        <a:tcBdr/>
      </a:tcStyle>
    </a:lastCol>
    <a:firstCol>
      <a:tcTxStyle b="on">
        <a:fontRef idx="minor">
          <a:prstClr val="black"/>
        </a:fontRef>
        <a:schemeClr val="dk1"/>
      </a:tcTxStyle>
      <a:tcStyle>
        <a:tcBdr/>
      </a:tcStyle>
    </a:firstCol>
    <a:lastRow>
      <a:tcTxStyle b="on">
        <a:fontRef idx="minor">
          <a:prstClr val="black"/>
        </a:fontRef>
        <a:schemeClr val="dk1"/>
      </a:tcTxStyle>
      <a:tcStyle>
        <a:tcBdr>
          <a:top>
            <a:ln w="38100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12700">
              <a:noFill/>
            </a:ln>
          </a:bottom>
        </a:tcBdr>
        <a:fill>
          <a:solidFill>
            <a:schemeClr val="accent6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  <p:guide pos="29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 /><Relationship Id="rId24" Type="http://schemas.openxmlformats.org/officeDocument/2006/relationships/tableStyles" Target="tableStyles.xml" /><Relationship Id="rId2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7756959" name="Google Shape;3;n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8008991" name="Google Shape;4;n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dt="0" ftr="0" hdr="0" sldNum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7344779" name="Google Shape;81;p1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147885938" name="Google Shape;82;p1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7687304" name="Google Shape;95;p2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841766710" name="Google Shape;96;p2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8166978" name="Google Shape;118;p3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370952151" name="Google Shape;119;p3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0245860" name="Google Shape;118;p3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269504087" name="Google Shape;119;p3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1364079" name="Google Shape;118;p3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976120464" name="Google Shape;119;p3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1815193" name="Google Shape;149;p4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986412135" name="Google Shape;150;p4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3491438" name="Google Shape;149;p4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750272169" name="Google Shape;150;p4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904466" name="Google Shape;173;p5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847535804" name="Google Shape;174;p5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1887826" name="Google Shape;173;p5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545542618" name="Google Shape;174;p5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4002547" name="Google Shape;201;p6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45262751" name="Google Shape;202;p6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1233534" name="Google Shape;218;p7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704801920" name="Google Shape;219;p7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2111595" name="Google Shape;218;p7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926523383" name="Google Shape;219;p7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2838268" name="Google Shape;201;p6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21977420" name="Google Shape;202;p6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0570240" name="Google Shape;241;p8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995753059" name="Google Shape;242;p8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247450" name="Google Shape;261;p9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047985726" name="Google Shape;262;p9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2723862" name="Google Shape;289;p10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492879508" name="Google Shape;290;p10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5600906" name="Google Shape;307;p11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587806876" name="Google Shape;308;p11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275119" name="Google Shape;307;p11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322123331" name="Google Shape;308;p11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lank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0373267" name="Google Shape;12;p2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fld id="{EF3BB8D2-AFA6-C21C-4B78-CE70871286A5}" type="datetime1">
              <a:rPr lang="it-IT"/>
              <a:t>18/08/2026</a:t>
            </a:fld>
            <a:endParaRPr/>
          </a:p>
        </p:txBody>
      </p:sp>
      <p:sp>
        <p:nvSpPr>
          <p:cNvPr id="282715196" name="Google Shape;13;p2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/>
              <a:t>PCD 2025/2026</a:t>
            </a:r>
            <a:endParaRPr/>
          </a:p>
        </p:txBody>
      </p:sp>
      <p:sp>
        <p:nvSpPr>
          <p:cNvPr id="1271693119" name="Google Shape;14;p2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Content" preserve="0" showMasterPhAnim="0" showMasterSp="1" type="obj" userDrawn="1">
  <p:cSld name="OBJEC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3456650" name="Google Shape;22;p4"/>
          <p:cNvSpPr txBox="1"/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82753157" name="Google Shape;23;p4"/>
          <p:cNvSpPr txBox="1"/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636362" name="Google Shape;24;p4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fld id="{D16A1E48-5CEB-E156-D70B-9533F0D817B4}" type="datetime1">
              <a:rPr lang="it-IT"/>
              <a:t>18/08/2026</a:t>
            </a:fld>
            <a:endParaRPr/>
          </a:p>
        </p:txBody>
      </p:sp>
      <p:sp>
        <p:nvSpPr>
          <p:cNvPr id="1177694773" name="Google Shape;25;p4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/>
              <a:t>PCD 2025/2026</a:t>
            </a:r>
            <a:endParaRPr/>
          </a:p>
        </p:txBody>
      </p:sp>
      <p:sp>
        <p:nvSpPr>
          <p:cNvPr id="2051215789" name="Google Shape;26;p4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ction Header" preserve="0" showMasterPhAnim="0" showMasterSp="1" type="secHead" userDrawn="1">
  <p:cSld name="SECTION_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1582121" name="Google Shape;28;p5"/>
          <p:cNvSpPr txBox="1"/>
          <p:nvPr>
            <p:ph type="title"/>
          </p:nvPr>
        </p:nvSpPr>
        <p:spPr bwMode="auto"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69400906" name="Google Shape;29;p5"/>
          <p:cNvSpPr txBox="1"/>
          <p:nvPr>
            <p:ph type="body" idx="1"/>
          </p:nvPr>
        </p:nvSpPr>
        <p:spPr bwMode="auto"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780479537" name="Google Shape;30;p5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fld id="{7F26221A-91E5-B5DC-B4CA-F4834A7DD91C}" type="datetime1">
              <a:rPr lang="it-IT"/>
              <a:t>18/08/2026</a:t>
            </a:fld>
            <a:endParaRPr/>
          </a:p>
        </p:txBody>
      </p:sp>
      <p:sp>
        <p:nvSpPr>
          <p:cNvPr id="1418588450" name="Google Shape;31;p5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/>
              <a:t>PCD 2025/2026</a:t>
            </a:r>
            <a:endParaRPr/>
          </a:p>
        </p:txBody>
      </p:sp>
      <p:sp>
        <p:nvSpPr>
          <p:cNvPr id="1877135078" name="Google Shape;32;p5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wo Content" preserve="0" showMasterPhAnim="0" showMasterSp="1" type="twoObj" userDrawn="1">
  <p:cSld name="TWO_OBJECT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7086634" name="Google Shape;34;p6"/>
          <p:cNvSpPr txBox="1"/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07324020" name="Google Shape;35;p6"/>
          <p:cNvSpPr txBox="1"/>
          <p:nvPr>
            <p:ph type="body" idx="1"/>
          </p:nvPr>
        </p:nvSpPr>
        <p:spPr bwMode="auto"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1422949999" name="Google Shape;36;p6"/>
          <p:cNvSpPr txBox="1"/>
          <p:nvPr>
            <p:ph type="body" idx="2"/>
          </p:nvPr>
        </p:nvSpPr>
        <p:spPr bwMode="auto"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1795340637" name="Google Shape;37;p6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fld id="{8CFC330B-BD3B-AB9C-107C-12D2560F860B}" type="datetime1">
              <a:rPr lang="it-IT"/>
              <a:t>18/08/2026</a:t>
            </a:fld>
            <a:endParaRPr/>
          </a:p>
        </p:txBody>
      </p:sp>
      <p:sp>
        <p:nvSpPr>
          <p:cNvPr id="1278131040" name="Google Shape;38;p6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/>
              <a:t>PCD 2025/2026</a:t>
            </a:r>
            <a:endParaRPr/>
          </a:p>
        </p:txBody>
      </p:sp>
      <p:sp>
        <p:nvSpPr>
          <p:cNvPr id="303781518" name="Google Shape;39;p6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omparison" preserve="0" showMasterPhAnim="0" showMasterSp="1" type="twoTxTwoObj" userDrawn="1">
  <p:cSld name="TWO_OBJECTS_WITH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048403" name="Google Shape;41;p7"/>
          <p:cNvSpPr txBox="1"/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17496499" name="Google Shape;42;p7"/>
          <p:cNvSpPr txBox="1"/>
          <p:nvPr>
            <p:ph type="body" idx="1"/>
          </p:nvPr>
        </p:nvSpPr>
        <p:spPr bwMode="auto"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1706924124" name="Google Shape;43;p7"/>
          <p:cNvSpPr txBox="1"/>
          <p:nvPr>
            <p:ph type="body" idx="2"/>
          </p:nvPr>
        </p:nvSpPr>
        <p:spPr bwMode="auto"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1362240712" name="Google Shape;44;p7"/>
          <p:cNvSpPr txBox="1"/>
          <p:nvPr>
            <p:ph type="body" idx="3"/>
          </p:nvPr>
        </p:nvSpPr>
        <p:spPr bwMode="auto"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1461624097" name="Google Shape;45;p7"/>
          <p:cNvSpPr txBox="1"/>
          <p:nvPr>
            <p:ph type="body" idx="4"/>
          </p:nvPr>
        </p:nvSpPr>
        <p:spPr bwMode="auto"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542016097" name="Google Shape;46;p7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fld id="{82E7D4E6-BC13-D9CF-9B9E-710141B3D053}" type="datetime1">
              <a:rPr lang="it-IT"/>
              <a:t>18/08/2026</a:t>
            </a:fld>
            <a:endParaRPr/>
          </a:p>
        </p:txBody>
      </p:sp>
      <p:sp>
        <p:nvSpPr>
          <p:cNvPr id="114107946" name="Google Shape;47;p7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/>
              <a:t>PCD 2025/2026</a:t>
            </a:r>
            <a:endParaRPr/>
          </a:p>
        </p:txBody>
      </p:sp>
      <p:sp>
        <p:nvSpPr>
          <p:cNvPr id="1327143445" name="Google Shape;48;p7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Only" preserve="0" showMasterPhAnim="0" showMasterSp="1" type="titleOnly" userDrawn="1">
  <p:cSld name="TITLE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1881067" name="Google Shape;50;p8"/>
          <p:cNvSpPr txBox="1"/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08543950" name="Google Shape;51;p8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fld id="{141DB1A6-5DD2-D073-C1BD-05F9F3AB2E37}" type="datetime1">
              <a:rPr lang="it-IT"/>
              <a:t>18/08/2026</a:t>
            </a:fld>
            <a:endParaRPr/>
          </a:p>
        </p:txBody>
      </p:sp>
      <p:sp>
        <p:nvSpPr>
          <p:cNvPr id="1683798608" name="Google Shape;52;p8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/>
              <a:t>PCD 2025/2026</a:t>
            </a:r>
            <a:endParaRPr/>
          </a:p>
        </p:txBody>
      </p:sp>
      <p:sp>
        <p:nvSpPr>
          <p:cNvPr id="2074648716" name="Google Shape;53;p8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ontent with Caption" preserve="0" showMasterPhAnim="0" showMasterSp="1" type="objTx" userDrawn="1">
  <p:cSld name="OBJECT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2268882" name="Google Shape;55;p9"/>
          <p:cNvSpPr txBox="1"/>
          <p:nvPr>
            <p:ph type="title"/>
          </p:nvPr>
        </p:nvSpPr>
        <p:spPr bwMode="auto"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35977121" name="Google Shape;56;p9"/>
          <p:cNvSpPr txBox="1"/>
          <p:nvPr>
            <p:ph type="body" idx="1"/>
          </p:nvPr>
        </p:nvSpPr>
        <p:spPr bwMode="auto"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799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2135516214" name="Google Shape;57;p9"/>
          <p:cNvSpPr txBox="1"/>
          <p:nvPr>
            <p:ph type="body" idx="2"/>
          </p:nvPr>
        </p:nvSpPr>
        <p:spPr bwMode="auto"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pPr>
              <a:defRPr/>
            </a:pPr>
            <a:endParaRPr/>
          </a:p>
        </p:txBody>
      </p:sp>
      <p:sp>
        <p:nvSpPr>
          <p:cNvPr id="701146497" name="Google Shape;58;p9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fld id="{B74D7888-8AE8-D58C-CC7F-7B1A0557E2D1}" type="datetime1">
              <a:rPr lang="it-IT"/>
              <a:t>18/08/2026</a:t>
            </a:fld>
            <a:endParaRPr/>
          </a:p>
        </p:txBody>
      </p:sp>
      <p:sp>
        <p:nvSpPr>
          <p:cNvPr id="1205677925" name="Google Shape;59;p9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/>
              <a:t>PCD 2025/2026</a:t>
            </a:r>
            <a:endParaRPr/>
          </a:p>
        </p:txBody>
      </p:sp>
      <p:sp>
        <p:nvSpPr>
          <p:cNvPr id="1930846177" name="Google Shape;60;p9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Picture with Caption" preserve="0" showMasterPhAnim="0" showMasterSp="1" type="picTx" userDrawn="1">
  <p:cSld name="PICTURE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1488912" name="Google Shape;62;p10"/>
          <p:cNvSpPr txBox="1"/>
          <p:nvPr>
            <p:ph type="title"/>
          </p:nvPr>
        </p:nvSpPr>
        <p:spPr bwMode="auto"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39743931" name="Google Shape;63;p10"/>
          <p:cNvSpPr/>
          <p:nvPr>
            <p:ph type="pic" idx="2"/>
          </p:nvPr>
        </p:nvSpPr>
        <p:spPr bwMode="auto"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9456092" name="Google Shape;64;p10"/>
          <p:cNvSpPr txBox="1"/>
          <p:nvPr>
            <p:ph type="body" idx="1"/>
          </p:nvPr>
        </p:nvSpPr>
        <p:spPr bwMode="auto"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pPr>
              <a:defRPr/>
            </a:pPr>
            <a:endParaRPr/>
          </a:p>
        </p:txBody>
      </p:sp>
      <p:sp>
        <p:nvSpPr>
          <p:cNvPr id="1621252688" name="Google Shape;65;p10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fld id="{5D2F9B57-ABC7-0815-887D-A1EC316DD4FE}" type="datetime1">
              <a:rPr lang="it-IT"/>
              <a:t>18/08/2026</a:t>
            </a:fld>
            <a:endParaRPr/>
          </a:p>
        </p:txBody>
      </p:sp>
      <p:sp>
        <p:nvSpPr>
          <p:cNvPr id="2025407252" name="Google Shape;66;p10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/>
              <a:t>PCD 2025/2026</a:t>
            </a:r>
            <a:endParaRPr/>
          </a:p>
        </p:txBody>
      </p:sp>
      <p:sp>
        <p:nvSpPr>
          <p:cNvPr id="1132050995" name="Google Shape;67;p10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Vertical Text" preserve="0" showMasterPhAnim="0" showMasterSp="1" type="vertTx" userDrawn="1">
  <p:cSld name="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374276" name="Google Shape;69;p11"/>
          <p:cNvSpPr txBox="1"/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48507962" name="Google Shape;70;p11"/>
          <p:cNvSpPr txBox="1"/>
          <p:nvPr>
            <p:ph type="body" idx="1"/>
          </p:nvPr>
        </p:nvSpPr>
        <p:spPr bwMode="auto"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87279578" name="Google Shape;71;p11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fld id="{3F653019-C03B-740B-59A7-4B4AD9890A36}" type="datetime1">
              <a:rPr lang="it-IT"/>
              <a:t>18/08/2026</a:t>
            </a:fld>
            <a:endParaRPr/>
          </a:p>
        </p:txBody>
      </p:sp>
      <p:sp>
        <p:nvSpPr>
          <p:cNvPr id="1832348391" name="Google Shape;72;p11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/>
              <a:t>PCD 2025/2026</a:t>
            </a:r>
            <a:endParaRPr/>
          </a:p>
        </p:txBody>
      </p:sp>
      <p:sp>
        <p:nvSpPr>
          <p:cNvPr id="1654043531" name="Google Shape;73;p11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Vertical Title and Text" preserve="0" showMasterPhAnim="0" showMasterSp="1" type="vertTitleAndTx" userDrawn="1">
  <p:cSld name="VERTICAL_TITLE_AND_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408538" name="Google Shape;75;p12"/>
          <p:cNvSpPr txBox="1"/>
          <p:nvPr>
            <p:ph type="title"/>
          </p:nvPr>
        </p:nvSpPr>
        <p:spPr bwMode="auto"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64194282" name="Google Shape;76;p12"/>
          <p:cNvSpPr txBox="1"/>
          <p:nvPr>
            <p:ph type="body" idx="1"/>
          </p:nvPr>
        </p:nvSpPr>
        <p:spPr bwMode="auto"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15682593" name="Google Shape;77;p12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fld id="{C59C3A29-B654-0D0A-2C62-6FA7FE4873F6}" type="datetime1">
              <a:rPr lang="it-IT"/>
              <a:t>18/08/2026</a:t>
            </a:fld>
            <a:endParaRPr/>
          </a:p>
        </p:txBody>
      </p:sp>
      <p:sp>
        <p:nvSpPr>
          <p:cNvPr id="2118030049" name="Google Shape;78;p12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/>
              <a:t>PCD 2025/2026</a:t>
            </a:r>
            <a:endParaRPr/>
          </a:p>
        </p:txBody>
      </p:sp>
      <p:sp>
        <p:nvSpPr>
          <p:cNvPr id="1800306349" name="Google Shape;79;p12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7150206" name="Google Shape;6;p1"/>
          <p:cNvSpPr txBox="1"/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1961152847" name="Google Shape;7;p1"/>
          <p:cNvSpPr txBox="1"/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799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886830177" name="Google Shape;8;p1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fld id="{67C4199C-94A9-2687-CA90-20D1EFFD1349}" type="datetime1">
              <a:rPr lang="it-IT"/>
              <a:t>18/08/2026</a:t>
            </a:fld>
            <a:endParaRPr/>
          </a:p>
        </p:txBody>
      </p:sp>
      <p:sp>
        <p:nvSpPr>
          <p:cNvPr id="1405189849" name="Google Shape;9;p1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r>
              <a:rPr/>
              <a:t>PCD 2025/2026</a:t>
            </a:r>
            <a:endParaRPr/>
          </a:p>
        </p:txBody>
      </p:sp>
      <p:sp>
        <p:nvSpPr>
          <p:cNvPr id="1763636793" name="Google Shape;10;p1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media1.svg"/><Relationship Id="rId6" Type="http://schemas.openxmlformats.org/officeDocument/2006/relationships/image" Target="../media/image3.png"/><Relationship Id="rId7" Type="http://schemas.openxmlformats.org/officeDocument/2006/relationships/image" Target="../media/media2.svg"/><Relationship Id="rId8" Type="http://schemas.openxmlformats.org/officeDocument/2006/relationships/image" Target="../media/image4.png"/><Relationship Id="rId9" Type="http://schemas.openxmlformats.org/officeDocument/2006/relationships/image" Target="../media/media3.sv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5" Type="http://schemas.openxmlformats.org/officeDocument/2006/relationships/image" Target="../media/image13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3.png"/><Relationship Id="rId7" Type="http://schemas.openxmlformats.org/officeDocument/2006/relationships/image" Target="../media/image17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8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8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media4.sv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3.png"/><Relationship Id="rId5" Type="http://schemas.openxmlformats.org/officeDocument/2006/relationships/image" Target="../media/image25.png"/><Relationship Id="rId6" Type="http://schemas.openxmlformats.org/officeDocument/2006/relationships/image" Target="../media/image17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18.png"/><Relationship Id="rId5" Type="http://schemas.openxmlformats.org/officeDocument/2006/relationships/image" Target="../media/image14.png"/><Relationship Id="rId6" Type="http://schemas.openxmlformats.org/officeDocument/2006/relationships/hyperlink" Target="https://mempool.space/testnet/tx/150a9abd5edfb4e3c9f1bf96ccb53c2174f3d245699b4c68a959f18cac348d82" TargetMode="External"/><Relationship Id="rId7" Type="http://schemas.openxmlformats.org/officeDocument/2006/relationships/hyperlink" Target="https://mempool.space/testnet/tx/0d5341d21931f570f939c917e7ff3f00578f2aa53f61e096a62eb055b43ebc98" TargetMode="External"/><Relationship Id="rId8" Type="http://schemas.openxmlformats.org/officeDocument/2006/relationships/hyperlink" Target="https://mempool.space/testnet/tx/c10743ed19eb49f87541abef204226e7e36d101b26efe1975aea658bba5e2493" TargetMode="External"/><Relationship Id="rId9" Type="http://schemas.openxmlformats.org/officeDocument/2006/relationships/hyperlink" Target="https://mempool.space/testnet/tx/34961e10f23e99ea6feff5504e87ce198a2b68cfcd95915e2e1b9c6ea3fa6e04" TargetMode="Externa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30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Relationship Id="rId9" Type="http://schemas.openxmlformats.org/officeDocument/2006/relationships/image" Target="../media/image36.png"/><Relationship Id="rId10" Type="http://schemas.openxmlformats.org/officeDocument/2006/relationships/image" Target="../media/image37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38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53848257" name="Google Shape;84;p13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-25696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150175" name="Titolo 1"/>
          <p:cNvSpPr>
            <a:spLocks noGrp="1"/>
          </p:cNvSpPr>
          <p:nvPr/>
        </p:nvSpPr>
        <p:spPr bwMode="auto">
          <a:xfrm>
            <a:off x="293978" y="716142"/>
            <a:ext cx="11210697" cy="1646301"/>
          </a:xfrm>
        </p:spPr>
        <p:txBody>
          <a:bodyPr spcFirstLastPara="1" vertOverflow="overflow" horzOverflow="overflow" vert="horz" wrap="square" lIns="91423" tIns="45698" rIns="91423" bIns="45698" numCol="1" spcCol="0" rtlCol="0" fromWordArt="0" anchor="ctr" anchorCtr="0" forceAA="0" upright="0" compatLnSpc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/>
            </a:pPr>
            <a:r>
              <a:rPr lang="it-IT" b="1">
                <a:solidFill>
                  <a:schemeClr val="bg1"/>
                </a:solidFill>
                <a:latin typeface="Poppins"/>
                <a:ea typeface="Poppins"/>
                <a:cs typeface="Poppins"/>
              </a:rPr>
              <a:t>Wallet Bitcoin in GoLang</a:t>
            </a:r>
            <a:endParaRPr b="1">
              <a:solidFill>
                <a:schemeClr val="bg1"/>
              </a:solidFill>
              <a:latin typeface="Poppins"/>
              <a:cs typeface="Poppins"/>
            </a:endParaRPr>
          </a:p>
        </p:txBody>
      </p:sp>
      <p:sp>
        <p:nvSpPr>
          <p:cNvPr id="1975643066" name="Segnaposto testo 4"/>
          <p:cNvSpPr>
            <a:spLocks noGrp="1"/>
          </p:cNvSpPr>
          <p:nvPr/>
        </p:nvSpPr>
        <p:spPr bwMode="auto">
          <a:xfrm flipH="0" flipV="0">
            <a:off x="514577" y="3360262"/>
            <a:ext cx="11210697" cy="640751"/>
          </a:xfrm>
        </p:spPr>
        <p:txBody>
          <a:bodyPr spcFirstLastPara="1" vertOverflow="overflow" horzOverflow="overflow" vert="horz" wrap="square" lIns="91423" tIns="45698" rIns="91423" bIns="45698" numCol="1" spcCol="0" rtlCol="0" fromWordArt="0" anchor="ctr" anchorCtr="0" forceAA="0" upright="0" compatLnSpc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31799" algn="l" rtl="0">
              <a:lnSpc>
                <a:spcPct val="100000"/>
              </a:lnSpc>
              <a:spcBef>
                <a:spcPts val="639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406399" algn="l" rtl="0">
              <a:lnSpc>
                <a:spcPct val="10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380999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355599" algn="l" rtl="0">
              <a:lnSpc>
                <a:spcPct val="100000"/>
              </a:lnSpc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355599" algn="l" rtl="0">
              <a:lnSpc>
                <a:spcPct val="100000"/>
              </a:lnSpc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355599" algn="l" rtl="0">
              <a:lnSpc>
                <a:spcPct val="100000"/>
              </a:lnSpc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355599" algn="l" rtl="0">
              <a:lnSpc>
                <a:spcPct val="100000"/>
              </a:lnSpc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355599" algn="l" rtl="0">
              <a:lnSpc>
                <a:spcPct val="100000"/>
              </a:lnSpc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355599" algn="l" rtl="0">
              <a:lnSpc>
                <a:spcPct val="100000"/>
              </a:lnSpc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25400" indent="0" algn="ctr">
              <a:buClr>
                <a:schemeClr val="dk1"/>
              </a:buClr>
              <a:buSzPts val="3200"/>
              <a:buFont typeface="Arial"/>
              <a:buNone/>
              <a:defRPr/>
            </a:pPr>
            <a:r>
              <a:rPr lang="it-IT" sz="2600">
                <a:solidFill>
                  <a:schemeClr val="bg1"/>
                </a:solidFill>
                <a:latin typeface="Poppins"/>
                <a:ea typeface="Poppins"/>
                <a:cs typeface="Poppins"/>
              </a:rPr>
              <a:t>Hierarchical Deterministic Wallet in GoLang</a:t>
            </a:r>
            <a:endParaRPr sz="2600">
              <a:solidFill>
                <a:schemeClr val="bg1"/>
              </a:solidFill>
              <a:latin typeface="Poppins"/>
              <a:cs typeface="Poppins"/>
            </a:endParaRPr>
          </a:p>
        </p:txBody>
      </p:sp>
      <p:sp>
        <p:nvSpPr>
          <p:cNvPr id="294418724" name="Segnaposto testo 7"/>
          <p:cNvSpPr>
            <a:spLocks noGrp="1"/>
          </p:cNvSpPr>
          <p:nvPr/>
        </p:nvSpPr>
        <p:spPr bwMode="auto">
          <a:xfrm flipH="0" flipV="0">
            <a:off x="266716" y="4931733"/>
            <a:ext cx="11607174" cy="906436"/>
          </a:xfrm>
        </p:spPr>
        <p:txBody>
          <a:bodyPr spcFirstLastPara="1" wrap="square" lIns="91423" tIns="45698" rIns="91423" bIns="45698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31799" algn="l" rtl="0">
              <a:lnSpc>
                <a:spcPct val="100000"/>
              </a:lnSpc>
              <a:spcBef>
                <a:spcPts val="639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406399" algn="l" rtl="0">
              <a:lnSpc>
                <a:spcPct val="10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380999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355599" algn="l" rtl="0">
              <a:lnSpc>
                <a:spcPct val="100000"/>
              </a:lnSpc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355599" algn="l" rtl="0">
              <a:lnSpc>
                <a:spcPct val="100000"/>
              </a:lnSpc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355599" algn="l" rtl="0">
              <a:lnSpc>
                <a:spcPct val="100000"/>
              </a:lnSpc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355599" algn="l" rtl="0">
              <a:lnSpc>
                <a:spcPct val="100000"/>
              </a:lnSpc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355599" algn="l" rtl="0">
              <a:lnSpc>
                <a:spcPct val="100000"/>
              </a:lnSpc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355599" algn="l" rtl="0">
              <a:lnSpc>
                <a:spcPct val="100000"/>
              </a:lnSpc>
              <a:spcBef>
                <a:spcPts val="398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25400" indent="0" algn="r">
              <a:buClr>
                <a:schemeClr val="dk1"/>
              </a:buClr>
              <a:buSzPts val="3200"/>
              <a:buFont typeface="Arial"/>
              <a:buNone/>
              <a:defRPr/>
            </a:pPr>
            <a:r>
              <a:rPr lang="it-IT" sz="1800">
                <a:solidFill>
                  <a:schemeClr val="bg1"/>
                </a:solidFill>
                <a:latin typeface="Poppins"/>
                <a:ea typeface="Poppins"/>
                <a:cs typeface="Poppins"/>
              </a:rPr>
              <a:t>Esame di Principles of Cryptocurrency Design — </a:t>
            </a:r>
            <a:r>
              <a:rPr lang="it-IT" sz="1800">
                <a:solidFill>
                  <a:schemeClr val="bg1"/>
                </a:solidFill>
                <a:latin typeface="Poppins"/>
                <a:ea typeface="Poppins"/>
                <a:cs typeface="Poppins"/>
              </a:rPr>
              <a:t>aa 2025/2026 </a:t>
            </a:r>
            <a:endParaRPr lang="it-IT" sz="1800">
              <a:solidFill>
                <a:schemeClr val="bg1"/>
              </a:solidFill>
              <a:latin typeface="Poppins"/>
              <a:ea typeface="Poppins"/>
              <a:cs typeface="Poppins"/>
            </a:endParaRPr>
          </a:p>
          <a:p>
            <a:pPr marL="25400" indent="0" algn="r">
              <a:buClr>
                <a:schemeClr val="dk1"/>
              </a:buClr>
              <a:buSzPts val="3200"/>
              <a:buFont typeface="Arial"/>
              <a:buNone/>
              <a:defRPr/>
            </a:pPr>
            <a:r>
              <a:rPr lang="it-IT" sz="1800">
                <a:solidFill>
                  <a:schemeClr val="bg1"/>
                </a:solidFill>
                <a:latin typeface="Poppins"/>
                <a:ea typeface="Poppins"/>
                <a:cs typeface="Poppins"/>
              </a:rPr>
              <a:t>Zbirciog Ionut Georgian — 0381279</a:t>
            </a:r>
            <a:endParaRPr sz="1800">
              <a:solidFill>
                <a:schemeClr val="bg1"/>
              </a:solidFill>
              <a:latin typeface="Poppins"/>
              <a:cs typeface="Poppins"/>
            </a:endParaRPr>
          </a:p>
        </p:txBody>
      </p:sp>
      <p:pic>
        <p:nvPicPr>
          <p:cNvPr id="284155387" name="Picture 1273133703"/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 bwMode="auto">
          <a:xfrm rot="0" flipH="0" flipV="0">
            <a:off x="514577" y="630569"/>
            <a:ext cx="908724" cy="908724"/>
          </a:xfrm>
          <a:prstGeom prst="rect">
            <a:avLst/>
          </a:prstGeom>
        </p:spPr>
      </p:pic>
      <p:pic>
        <p:nvPicPr>
          <p:cNvPr id="2900753" name=""/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 bwMode="auto">
          <a:xfrm flipH="0" flipV="0">
            <a:off x="9857687" y="1023579"/>
            <a:ext cx="1646988" cy="614875"/>
          </a:xfrm>
          <a:prstGeom prst="rect">
            <a:avLst/>
          </a:prstGeom>
        </p:spPr>
      </p:pic>
      <p:pic>
        <p:nvPicPr>
          <p:cNvPr id="1235160713" name=""/>
          <p:cNvPicPr>
            <a:picLocks noChangeAspect="1"/>
          </p:cNvPicPr>
          <p:nvPr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 bwMode="auto">
          <a:xfrm flipH="0" flipV="0">
            <a:off x="650842" y="5143453"/>
            <a:ext cx="1058080" cy="10580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56123319" name="Google Shape;98;p14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9039872" name="Google Shape;99;p14" descr="image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466724" y="2624136"/>
            <a:ext cx="360045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3448731" name="Google Shape;100;p14" descr="image.png"/>
          <p:cNvPicPr/>
          <p:nvPr/>
        </p:nvPicPr>
        <p:blipFill rotWithShape="1">
          <a:blip r:embed="rId5">
            <a:alphaModFix/>
          </a:blip>
          <a:srcRect l="0" t="0" r="0" b="0"/>
          <a:stretch/>
        </p:blipFill>
        <p:spPr bwMode="auto">
          <a:xfrm>
            <a:off x="4295775" y="2624137"/>
            <a:ext cx="360045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0333061" name="Google Shape;101;p14" descr="image.png"/>
          <p:cNvPicPr/>
          <p:nvPr/>
        </p:nvPicPr>
        <p:blipFill rotWithShape="1">
          <a:blip r:embed="rId6">
            <a:alphaModFix/>
          </a:blip>
          <a:srcRect l="0" t="0" r="0" b="0"/>
          <a:stretch/>
        </p:blipFill>
        <p:spPr bwMode="auto">
          <a:xfrm>
            <a:off x="8124825" y="2624137"/>
            <a:ext cx="3600450" cy="2324100"/>
          </a:xfrm>
          <a:prstGeom prst="rect">
            <a:avLst/>
          </a:prstGeom>
          <a:noFill/>
          <a:ln>
            <a:noFill/>
          </a:ln>
        </p:spPr>
      </p:pic>
      <p:sp>
        <p:nvSpPr>
          <p:cNvPr id="792523987" name="Google Shape;102;p14"/>
          <p:cNvSpPr txBox="1"/>
          <p:nvPr/>
        </p:nvSpPr>
        <p:spPr bwMode="auto">
          <a:xfrm>
            <a:off x="847724" y="516382"/>
            <a:ext cx="11346794" cy="388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it-IT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Architettura del Wallet</a:t>
            </a:r>
            <a:endParaRPr lang="it-IT"/>
          </a:p>
        </p:txBody>
      </p:sp>
      <p:pic>
        <p:nvPicPr>
          <p:cNvPr id="1471209195" name="Google Shape;104;p14" descr="image.png"/>
          <p:cNvPicPr/>
          <p:nvPr/>
        </p:nvPicPr>
        <p:blipFill rotWithShape="1">
          <a:blip r:embed="rId7">
            <a:alphaModFix/>
          </a:blip>
          <a:srcRect l="0" t="0" r="0" b="0"/>
          <a:stretch/>
        </p:blipFill>
        <p:spPr bwMode="auto">
          <a:xfrm>
            <a:off x="466725" y="576262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8547368" name="Google Shape;107;p14"/>
          <p:cNvSpPr txBox="1"/>
          <p:nvPr/>
        </p:nvSpPr>
        <p:spPr bwMode="auto">
          <a:xfrm>
            <a:off x="704849" y="3589598"/>
            <a:ext cx="3125639" cy="754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it-IT" sz="1100" b="0" i="0" u="none" strike="noStrike" cap="none">
                <a:solidFill>
                  <a:srgbClr val="94A3B8"/>
                </a:solidFill>
                <a:latin typeface="Adwaita Sans"/>
                <a:ea typeface="Adwaita Sans"/>
                <a:cs typeface="Adwaita Sans"/>
              </a:rPr>
              <a:t>Generazione dell'entropia, mnemonic BIP-39 e derivazione gerarchica delle chiavi private/pubbliche tramite BIP-32 e BIP-44.</a:t>
            </a:r>
            <a:endParaRPr sz="1100">
              <a:latin typeface="Adwaita Sans"/>
              <a:cs typeface="Adwaita Sans"/>
            </a:endParaRPr>
          </a:p>
        </p:txBody>
      </p:sp>
      <p:sp>
        <p:nvSpPr>
          <p:cNvPr id="1333123764" name="Google Shape;110;p14"/>
          <p:cNvSpPr txBox="1"/>
          <p:nvPr/>
        </p:nvSpPr>
        <p:spPr bwMode="auto">
          <a:xfrm>
            <a:off x="4533899" y="3589598"/>
            <a:ext cx="3125279" cy="754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it-IT" sz="1100" b="0" i="0" u="none" strike="noStrike" cap="none">
                <a:solidFill>
                  <a:srgbClr val="94A3B8"/>
                </a:solidFill>
                <a:latin typeface="Adwaita Sans"/>
                <a:ea typeface="Adwaita Sans"/>
                <a:cs typeface="Adwaita Sans"/>
              </a:rPr>
              <a:t>Selezione greedy degli UTXO, costruzione degli Input/Output, calcolo delle fee e firma ECDSA (Legacy e SegWit).</a:t>
            </a:r>
            <a:endParaRPr sz="1100">
              <a:latin typeface="Adwaita Sans"/>
              <a:cs typeface="Adwaita Sans"/>
            </a:endParaRPr>
          </a:p>
        </p:txBody>
      </p:sp>
      <p:sp>
        <p:nvSpPr>
          <p:cNvPr id="731371913" name="Google Shape;113;p14"/>
          <p:cNvSpPr txBox="1"/>
          <p:nvPr/>
        </p:nvSpPr>
        <p:spPr bwMode="auto">
          <a:xfrm>
            <a:off x="8362949" y="3589598"/>
            <a:ext cx="3142919" cy="10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it-IT" sz="1100" b="0" i="0" u="none" strike="noStrike" cap="none">
                <a:solidFill>
                  <a:srgbClr val="94A3B8"/>
                </a:solidFill>
                <a:latin typeface="Adwaita Sans"/>
                <a:ea typeface="Adwaita Sans"/>
                <a:cs typeface="Adwaita Sans"/>
              </a:rPr>
              <a:t>Persistenza sicura su disco, import ed export del wallet e  integrazione con nodo locale Bitcoin Core via API Proxy Python e fallback su Mempool REST.</a:t>
            </a:r>
            <a:endParaRPr sz="1100">
              <a:latin typeface="Adwaita Sans"/>
              <a:cs typeface="Adwaita Sans"/>
            </a:endParaRPr>
          </a:p>
        </p:txBody>
      </p:sp>
      <p:pic>
        <p:nvPicPr>
          <p:cNvPr id="1269011119" name="Google Shape;114;p14" descr="image.png"/>
          <p:cNvPicPr/>
          <p:nvPr/>
        </p:nvPicPr>
        <p:blipFill rotWithShape="1">
          <a:blip r:embed="rId8">
            <a:alphaModFix/>
          </a:blip>
          <a:srcRect l="0" t="0" r="0" b="0"/>
          <a:stretch/>
        </p:blipFill>
        <p:spPr bwMode="auto">
          <a:xfrm>
            <a:off x="704849" y="2890836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387880" name="Google Shape;115;p14" descr="image.png"/>
          <p:cNvPicPr/>
          <p:nvPr/>
        </p:nvPicPr>
        <p:blipFill rotWithShape="1">
          <a:blip r:embed="rId9">
            <a:alphaModFix/>
          </a:blip>
          <a:srcRect l="0" t="0" r="0" b="0"/>
          <a:stretch/>
        </p:blipFill>
        <p:spPr bwMode="auto">
          <a:xfrm>
            <a:off x="4533900" y="2890837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6553146" name="Google Shape;116;p14" descr="image.png"/>
          <p:cNvPicPr/>
          <p:nvPr/>
        </p:nvPicPr>
        <p:blipFill rotWithShape="1">
          <a:blip r:embed="rId10">
            <a:alphaModFix/>
          </a:blip>
          <a:srcRect l="0" t="0" r="0" b="0"/>
          <a:stretch/>
        </p:blipFill>
        <p:spPr bwMode="auto">
          <a:xfrm>
            <a:off x="8362950" y="2890837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836952207" name="Flowchart: Alternate process 57549366"/>
          <p:cNvSpPr/>
          <p:nvPr/>
        </p:nvSpPr>
        <p:spPr bwMode="auto">
          <a:xfrm rot="0" flipH="0" flipV="0">
            <a:off x="1178121" y="2890836"/>
            <a:ext cx="2651288" cy="363323"/>
          </a:xfrm>
          <a:prstGeom prst="flowChartAlternateProcess">
            <a:avLst/>
          </a:prstGeom>
          <a:solidFill>
            <a:schemeClr val="accent6">
              <a:alpha val="24999"/>
            </a:schemeClr>
          </a:solidFill>
          <a:ln w="6350" cap="flat" cmpd="sng" algn="ctr">
            <a:solidFill>
              <a:schemeClr val="accent6">
                <a:lumMod val="74901"/>
              </a:schemeClr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it-IT" sz="1400" b="1">
                <a:solidFill>
                  <a:srgbClr val="F7931A"/>
                </a:solidFill>
                <a:latin typeface="Poppins"/>
                <a:ea typeface="Poppins"/>
                <a:cs typeface="Poppins"/>
              </a:rPr>
              <a:t>STEP 1 – Gestione Chiavi</a:t>
            </a:r>
            <a:endParaRPr sz="1400" b="1">
              <a:solidFill>
                <a:srgbClr val="F7931A"/>
              </a:solidFill>
              <a:latin typeface="Poppins"/>
              <a:cs typeface="Poppins"/>
            </a:endParaRPr>
          </a:p>
        </p:txBody>
      </p:sp>
      <p:sp>
        <p:nvSpPr>
          <p:cNvPr id="1617291281" name="Flowchart: Alternate process 57549366"/>
          <p:cNvSpPr/>
          <p:nvPr/>
        </p:nvSpPr>
        <p:spPr bwMode="auto">
          <a:xfrm rot="0" flipH="0" flipV="0">
            <a:off x="5006811" y="2890836"/>
            <a:ext cx="2651287" cy="363323"/>
          </a:xfrm>
          <a:prstGeom prst="flowChartAlternateProcess">
            <a:avLst/>
          </a:prstGeom>
          <a:solidFill>
            <a:schemeClr val="accent6">
              <a:alpha val="24999"/>
            </a:schemeClr>
          </a:solidFill>
          <a:ln w="6350" cap="flat" cmpd="sng" algn="ctr">
            <a:solidFill>
              <a:schemeClr val="accent6">
                <a:lumMod val="74901"/>
              </a:schemeClr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it-IT" sz="1400" b="1">
                <a:solidFill>
                  <a:srgbClr val="F7931A"/>
                </a:solidFill>
                <a:latin typeface="Poppins"/>
                <a:ea typeface="Poppins"/>
                <a:cs typeface="Poppins"/>
              </a:rPr>
              <a:t>STEP 2 – Transazioni</a:t>
            </a:r>
            <a:endParaRPr sz="1400" b="1">
              <a:solidFill>
                <a:srgbClr val="F7931A"/>
              </a:solidFill>
              <a:latin typeface="Poppins"/>
              <a:cs typeface="Poppins"/>
            </a:endParaRPr>
          </a:p>
        </p:txBody>
      </p:sp>
      <p:sp>
        <p:nvSpPr>
          <p:cNvPr id="1082898198" name="Flowchart: Alternate process 57549366"/>
          <p:cNvSpPr/>
          <p:nvPr/>
        </p:nvSpPr>
        <p:spPr bwMode="auto">
          <a:xfrm rot="0" flipH="0" flipV="0">
            <a:off x="8835861" y="2890836"/>
            <a:ext cx="2651287" cy="363322"/>
          </a:xfrm>
          <a:prstGeom prst="flowChartAlternateProcess">
            <a:avLst/>
          </a:prstGeom>
          <a:solidFill>
            <a:schemeClr val="accent6">
              <a:alpha val="24999"/>
            </a:schemeClr>
          </a:solidFill>
          <a:ln w="6350" cap="flat" cmpd="sng" algn="ctr">
            <a:solidFill>
              <a:schemeClr val="accent6">
                <a:lumMod val="74901"/>
              </a:schemeClr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it-IT" sz="1400" b="1">
                <a:solidFill>
                  <a:srgbClr val="F7931A"/>
                </a:solidFill>
                <a:latin typeface="Poppins"/>
                <a:ea typeface="Poppins"/>
                <a:cs typeface="Poppins"/>
              </a:rPr>
              <a:t>STEP 3 – Broadcast &amp; Rete</a:t>
            </a:r>
            <a:endParaRPr sz="1400" b="1">
              <a:solidFill>
                <a:srgbClr val="F7931A"/>
              </a:solidFill>
              <a:latin typeface="Poppins"/>
              <a:cs typeface="Poppi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40963827" name="Google Shape;121;p15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6085533" name="Google Shape;124;p15"/>
          <p:cNvSpPr txBox="1"/>
          <p:nvPr/>
        </p:nvSpPr>
        <p:spPr bwMode="auto">
          <a:xfrm>
            <a:off x="847725" y="466725"/>
            <a:ext cx="1134427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Generazione della Mnemonic (BIP-39)</a:t>
            </a:r>
            <a:endParaRPr/>
          </a:p>
        </p:txBody>
      </p:sp>
      <p:pic>
        <p:nvPicPr>
          <p:cNvPr id="1586468041" name="Google Shape;126;p15" descr="image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466725" y="576262"/>
            <a:ext cx="266700" cy="266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5798769" name=""/>
          <p:cNvGrpSpPr/>
          <p:nvPr/>
        </p:nvGrpSpPr>
        <p:grpSpPr bwMode="auto">
          <a:xfrm>
            <a:off x="2075157" y="1236628"/>
            <a:ext cx="7905713" cy="1114587"/>
            <a:chOff x="0" y="0"/>
            <a:chExt cx="7905713" cy="1114587"/>
          </a:xfrm>
        </p:grpSpPr>
        <p:pic>
          <p:nvPicPr>
            <p:cNvPr id="1043847805" name="Google Shape;122;p15" descr="image.png"/>
            <p:cNvPicPr/>
            <p:nvPr/>
          </p:nvPicPr>
          <p:blipFill rotWithShape="1">
            <a:blip r:embed="rId5">
              <a:alphaModFix/>
            </a:blip>
            <a:srcRect l="0" t="0" r="0" b="0"/>
            <a:stretch/>
          </p:blipFill>
          <p:spPr bwMode="auto">
            <a:xfrm rot="0" flipH="0" flipV="0">
              <a:off x="0" y="0"/>
              <a:ext cx="7842656" cy="106649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021268" name="Google Shape;131;p15"/>
            <p:cNvSpPr txBox="1"/>
            <p:nvPr/>
          </p:nvSpPr>
          <p:spPr bwMode="auto">
            <a:xfrm rot="0" flipH="0" flipV="0">
              <a:off x="136330" y="154107"/>
              <a:ext cx="7769382" cy="9604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r>
                <a:rPr lang="it-IT" sz="1400" b="1" i="0" u="none" strike="noStrike" cap="none" spc="0">
                  <a:solidFill>
                    <a:srgbClr val="CBD5E1"/>
                  </a:solidFill>
                  <a:latin typeface="Adwaita Sans"/>
                  <a:ea typeface="Adwaita Sans"/>
                  <a:cs typeface="Adwaita Sans"/>
                </a:rPr>
                <a:t>BIP-39</a:t>
              </a:r>
              <a:r>
                <a:rPr lang="en-US" sz="1400" b="1" i="0" u="none" strike="noStrike" cap="none" spc="0">
                  <a:solidFill>
                    <a:srgbClr val="CBD5E1"/>
                  </a:solidFill>
                  <a:latin typeface="Adwaita Sans"/>
                  <a:ea typeface="Adwaita Sans"/>
                  <a:cs typeface="Adwaita Sans"/>
                </a:rPr>
                <a:t>:</a:t>
              </a:r>
              <a:r>
                <a:rPr lang="it-IT" sz="1400" b="1" i="0" u="none" strike="noStrike" cap="none" spc="0">
                  <a:solidFill>
                    <a:srgbClr val="CBD5E1"/>
                  </a:solidFill>
                  <a:latin typeface="Adwaita Sans"/>
                  <a:ea typeface="Adwaita Sans"/>
                  <a:cs typeface="Adwaita Sans"/>
                </a:rPr>
                <a:t> </a:t>
              </a:r>
              <a:r>
                <a:rPr lang="it-IT" sz="1400" b="0" i="0" u="none" strike="noStrike" cap="none" spc="0">
                  <a:solidFill>
                    <a:srgbClr val="CBD5E1"/>
                  </a:solidFill>
                  <a:latin typeface="Adwaita Sans"/>
                  <a:ea typeface="Adwaita Sans"/>
                  <a:cs typeface="Adwaita Sans"/>
                </a:rPr>
                <a:t>Permette di generare un seed random e di codificarlo in una sequenza di 12-24 parole facili da salvare e memorizzare. Garantisce la portabilità completa del wallet verso altri wallet.</a:t>
              </a:r>
              <a:endParaRPr sz="1400" b="0">
                <a:latin typeface="Adwaita Sans"/>
                <a:cs typeface="Adwaita Sans"/>
              </a:endParaRPr>
            </a:p>
          </p:txBody>
        </p:sp>
      </p:grpSp>
      <p:sp>
        <p:nvSpPr>
          <p:cNvPr id="1174102026" name=""/>
          <p:cNvSpPr txBox="1"/>
          <p:nvPr/>
        </p:nvSpPr>
        <p:spPr bwMode="auto">
          <a:xfrm rot="0" flipH="0" flipV="0">
            <a:off x="466724" y="2705721"/>
            <a:ext cx="6704304" cy="262768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39821" marR="0" indent="-239821" algn="l" defTabSz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Wingdings"/>
              <a:buChar char="ü"/>
              <a:defRPr/>
            </a:pPr>
            <a:r>
              <a:rPr lang="it-IT" sz="1200" b="1" strike="noStrike" cap="none" spc="0">
                <a:solidFill>
                  <a:schemeClr val="bg1"/>
                </a:solidFill>
                <a:latin typeface="Adwaita Sans"/>
                <a:ea typeface="Adwaita Sans"/>
                <a:cs typeface="Adwaita Sans"/>
              </a:rPr>
              <a:t>Entropia Iniziale</a:t>
            </a:r>
            <a:r>
              <a:rPr lang="it-IT" sz="1200" b="1" strike="noStrike" cap="none" spc="0">
                <a:solidFill>
                  <a:schemeClr val="bg1"/>
                </a:solidFill>
                <a:latin typeface="Adwaita Sans"/>
                <a:ea typeface="Adwaita Sans"/>
                <a:cs typeface="Adwaita Sans"/>
              </a:rPr>
              <a:t>:</a:t>
            </a:r>
            <a:r>
              <a:rPr lang="it-IT" sz="1200" strike="noStrike" cap="none" spc="0">
                <a:solidFill>
                  <a:schemeClr val="bg1"/>
                </a:solidFill>
                <a:latin typeface="Adwaita Sans"/>
                <a:ea typeface="Adwaita Sans"/>
                <a:cs typeface="Adwaita Sans"/>
              </a:rPr>
              <a:t> Generazione di 128/256 bit di entropia. Calcolo del checksum come </a:t>
            </a:r>
            <a:r>
              <a:rPr lang="it-IT" sz="1200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CS</a:t>
            </a:r>
            <a:r>
              <a:rPr lang="it-IT" sz="1200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 </a:t>
            </a:r>
            <a:r>
              <a:rPr lang="it-IT" sz="1200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=</a:t>
            </a:r>
            <a:r>
              <a:rPr lang="it-IT" sz="1200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 </a:t>
            </a:r>
            <a:r>
              <a:rPr lang="it-IT" sz="1200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SHA-256</a:t>
            </a:r>
            <a:r>
              <a:rPr lang="it-IT" sz="1200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(ENT)[:ENT / 32]</a:t>
            </a:r>
            <a:r>
              <a:rPr lang="it-IT" sz="1200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.</a:t>
            </a:r>
            <a:endParaRPr sz="1200" strike="noStrike" cap="none" spc="0">
              <a:solidFill>
                <a:schemeClr val="bg1"/>
              </a:solidFill>
              <a:latin typeface="Adwaita Sans"/>
              <a:cs typeface="Adwaita Sans"/>
            </a:endParaRPr>
          </a:p>
          <a:p>
            <a:pPr marL="239821" marR="0" indent="-239821" algn="l" defTabSz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Wingdings"/>
              <a:buChar char="ü"/>
              <a:defRPr/>
            </a:pPr>
            <a:r>
              <a:rPr lang="it-IT" sz="1200" b="1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Mnemonic:</a:t>
            </a:r>
            <a:r>
              <a:rPr lang="it-IT" sz="1200" b="0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 Si dividono gli  </a:t>
            </a:r>
            <a:r>
              <a:rPr lang="it-IT" sz="1000" b="0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ENT + CS</a:t>
            </a:r>
            <a:r>
              <a:rPr lang="it-IT" sz="1200" b="0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 bit in blocchi da 11 bit e si mappano sulla wordlist standard BIP-39, formando la </a:t>
            </a:r>
            <a:r>
              <a:rPr lang="it-IT" sz="1200" b="1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mnemonic sentence</a:t>
            </a:r>
            <a:r>
              <a:rPr lang="it-IT" sz="1200" b="0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.</a:t>
            </a:r>
            <a:endParaRPr lang="it-IT" sz="1200" b="0" strike="noStrike" cap="none" spc="0">
              <a:solidFill>
                <a:schemeClr val="bg1"/>
              </a:solidFill>
              <a:latin typeface="Adwaita Sans"/>
              <a:cs typeface="Adwaita Sans"/>
            </a:endParaRPr>
          </a:p>
          <a:p>
            <a:pPr marL="239821" marR="0" indent="-239821" algn="l" defTabSz="914400" rtl="0">
              <a:lnSpc>
                <a:spcPts val="1414"/>
              </a:lnSpc>
              <a:spcBef>
                <a:spcPts val="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Wingdings"/>
              <a:buChar char="ü"/>
              <a:defRPr/>
            </a:pPr>
            <a:r>
              <a:rPr lang="it-IT" sz="1200" b="1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Wordlist: </a:t>
            </a:r>
            <a:r>
              <a:rPr lang="it-IT" sz="1200" b="0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Lista di 2048 parole (it, eng, chi), con le seguenti caratteristiche:</a:t>
            </a:r>
            <a:endParaRPr lang="it-IT" sz="1200" b="0" strike="noStrike" cap="none" spc="0">
              <a:solidFill>
                <a:schemeClr val="bg1"/>
              </a:solidFill>
              <a:latin typeface="Adwaita Sans"/>
              <a:cs typeface="Adwaita Sans"/>
            </a:endParaRPr>
          </a:p>
          <a:p>
            <a:pPr marL="617843" marR="0" lvl="1" indent="-217793" algn="l" defTabSz="914400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Wingdings"/>
              <a:buChar char="Ø"/>
              <a:defRPr/>
            </a:pPr>
            <a:r>
              <a:rPr lang="it-IT" sz="1200" b="0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Non ambiguità</a:t>
            </a:r>
            <a:endParaRPr lang="it-IT" sz="1200" b="0" strike="noStrike" cap="none" spc="0">
              <a:solidFill>
                <a:schemeClr val="bg1"/>
              </a:solidFill>
              <a:latin typeface="Adwaita Sans"/>
              <a:cs typeface="Adwaita Sans"/>
            </a:endParaRPr>
          </a:p>
          <a:p>
            <a:pPr marL="617843" marR="0" lvl="1" indent="-217793" algn="l" defTabSz="914400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Wingdings"/>
              <a:buChar char="Ø"/>
              <a:defRPr/>
            </a:pPr>
            <a:r>
              <a:rPr lang="it-IT" sz="1200" b="0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No parole simili (</a:t>
            </a:r>
            <a:r>
              <a:rPr lang="it-IT" sz="1200" b="0" i="1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built </a:t>
            </a:r>
            <a:r>
              <a:rPr lang="it-IT" sz="1200" b="0" i="0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e </a:t>
            </a:r>
            <a:r>
              <a:rPr lang="it-IT" sz="1200" b="0" i="1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build</a:t>
            </a:r>
            <a:r>
              <a:rPr lang="it-IT" sz="1200" b="0" i="0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, </a:t>
            </a:r>
            <a:r>
              <a:rPr lang="it-IT" sz="1200" b="0" i="1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pena</a:t>
            </a:r>
            <a:r>
              <a:rPr lang="it-IT" sz="1200" b="0" i="0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 e </a:t>
            </a:r>
            <a:r>
              <a:rPr lang="it-IT" sz="1200" b="0" i="1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penna</a:t>
            </a:r>
            <a:r>
              <a:rPr lang="it-IT" sz="1200" b="0" i="0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, etc...</a:t>
            </a:r>
            <a:r>
              <a:rPr lang="it-IT" sz="1200" b="0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)</a:t>
            </a:r>
            <a:endParaRPr lang="it-IT" sz="1200" b="0" strike="noStrike" cap="none" spc="0">
              <a:solidFill>
                <a:schemeClr val="bg1"/>
              </a:solidFill>
              <a:latin typeface="Adwaita Sans"/>
              <a:cs typeface="Adwaita Sans"/>
            </a:endParaRPr>
          </a:p>
          <a:p>
            <a:pPr marL="617843" marR="0" lvl="1" indent="-217793" algn="l" defTabSz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Wingdings"/>
              <a:buChar char="Ø"/>
              <a:defRPr/>
            </a:pPr>
            <a:r>
              <a:rPr lang="it-IT" sz="1200" b="0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Ordinamento</a:t>
            </a:r>
            <a:endParaRPr lang="it-IT" sz="1200" b="0" strike="noStrike" cap="none" spc="0">
              <a:solidFill>
                <a:schemeClr val="bg1"/>
              </a:solidFill>
              <a:latin typeface="Adwaita Sans"/>
              <a:cs typeface="Adwaita Sans"/>
            </a:endParaRPr>
          </a:p>
          <a:p>
            <a:pPr marL="217793" marR="0" lvl="0" indent="-217793" algn="l" defTabSz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Wingdings"/>
              <a:buChar char="ü"/>
              <a:defRPr/>
            </a:pPr>
            <a:r>
              <a:rPr lang="it-IT" sz="1200" b="1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Seed:</a:t>
            </a:r>
            <a:r>
              <a:rPr lang="it-IT" sz="1200" b="0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 </a:t>
            </a:r>
            <a:r>
              <a:rPr lang="it-IT" sz="1200" b="0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PBKDF2</a:t>
            </a:r>
            <a:r>
              <a:rPr lang="it-IT" sz="1200" b="0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(</a:t>
            </a:r>
            <a:r>
              <a:rPr lang="it-IT" sz="1200" b="0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HMAC-SHA512</a:t>
            </a:r>
            <a:r>
              <a:rPr lang="it-IT" sz="1200" b="0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, </a:t>
            </a:r>
            <a:r>
              <a:rPr lang="it-IT" sz="1200" b="0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seed</a:t>
            </a:r>
            <a:r>
              <a:rPr lang="it-IT" sz="1200" b="0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, </a:t>
            </a:r>
            <a:r>
              <a:rPr lang="it-IT" sz="1200" b="0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iter=2048</a:t>
            </a:r>
            <a:r>
              <a:rPr lang="it-IT" sz="1200" b="0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, </a:t>
            </a:r>
            <a:r>
              <a:rPr lang="it-IT" sz="1200" b="0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salt=”mnemonic” + passphrase</a:t>
            </a:r>
            <a:r>
              <a:rPr lang="it-IT" sz="1200" b="0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)</a:t>
            </a:r>
            <a:endParaRPr sz="1200" b="0" strike="noStrike" cap="none" spc="0">
              <a:solidFill>
                <a:schemeClr val="bg1"/>
              </a:solidFill>
              <a:latin typeface="Adwaita Sans"/>
              <a:cs typeface="Adwaita Sans"/>
            </a:endParaRPr>
          </a:p>
        </p:txBody>
      </p:sp>
      <p:graphicFrame>
        <p:nvGraphicFramePr>
          <p:cNvPr id="1761812519" name="Table 1475532730"/>
          <p:cNvGraphicFramePr>
            <a:graphicFrameLocks xmlns:a="http://schemas.openxmlformats.org/drawingml/2006/main"/>
          </p:cNvGraphicFramePr>
          <p:nvPr/>
        </p:nvGraphicFramePr>
        <p:xfrm rot="0">
          <a:off x="7718767" y="2705721"/>
          <a:ext cx="4050000" cy="227520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{46F890A9-2807-4EBB-B81D-B2AA78EC7F39}</a:tableStyleId>
              </a:tblPr>
              <a:tblGrid>
                <a:gridCol w="1012499"/>
                <a:gridCol w="1012499"/>
                <a:gridCol w="1012500"/>
                <a:gridCol w="1012499"/>
              </a:tblGrid>
              <a:tr h="379200">
                <a:tc>
                  <a:txBody>
                    <a:bodyPr/>
                    <a:p>
                      <a:pPr marL="25400" indent="0" algn="ctr"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  <a:defRPr/>
                      </a:pPr>
                      <a:r>
                        <a:rPr lang="it-IT" sz="1000">
                          <a:solidFill>
                            <a:srgbClr val="18294F"/>
                          </a:solidFill>
                          <a:latin typeface="Adwaita Sans"/>
                          <a:ea typeface="Adwaita Sans"/>
                          <a:cs typeface="Adwaita Sans"/>
                        </a:rPr>
                        <a:t>ENT</a:t>
                      </a:r>
                      <a:endParaRPr sz="1000">
                        <a:solidFill>
                          <a:srgbClr val="18294F"/>
                        </a:solidFill>
                        <a:latin typeface="Adwaita Sans"/>
                        <a:cs typeface="Adwaita Sans"/>
                      </a:endParaRPr>
                    </a:p>
                  </a:txBody>
                  <a:tcPr anchor="ctr">
                    <a:lnL w="6349" algn="ctr">
                      <a:noFill/>
                    </a:lnL>
                    <a:lnR w="6349" algn="ctr">
                      <a:noFill/>
                    </a:lnR>
                    <a:lnT w="6349" algn="ctr">
                      <a:noFill/>
                    </a:lnT>
                    <a:lnB w="6349" algn="ctr">
                      <a:noFill/>
                    </a:lnB>
                    <a:solidFill>
                      <a:srgbClr val="F7931A"/>
                    </a:solidFill>
                  </a:tcPr>
                </a:tc>
                <a:tc>
                  <a:txBody>
                    <a:bodyPr/>
                    <a:p>
                      <a:pPr marL="25400" indent="0" algn="ctr"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  <a:defRPr/>
                      </a:pPr>
                      <a:r>
                        <a:rPr lang="it-IT" sz="1000">
                          <a:solidFill>
                            <a:srgbClr val="18294F"/>
                          </a:solidFill>
                          <a:latin typeface="Adwaita Sans"/>
                          <a:ea typeface="Adwaita Sans"/>
                          <a:cs typeface="Adwaita Sans"/>
                        </a:rPr>
                        <a:t>CS</a:t>
                      </a:r>
                      <a:endParaRPr sz="1000">
                        <a:solidFill>
                          <a:srgbClr val="18294F"/>
                        </a:solidFill>
                        <a:latin typeface="Adwaita Sans"/>
                        <a:cs typeface="Adwaita Sans"/>
                      </a:endParaRPr>
                    </a:p>
                  </a:txBody>
                  <a:tcPr anchor="ctr">
                    <a:lnL w="6349" algn="ctr">
                      <a:noFill/>
                    </a:lnL>
                    <a:lnR w="6349" algn="ctr">
                      <a:noFill/>
                    </a:lnR>
                    <a:lnT w="6349" algn="ctr">
                      <a:noFill/>
                    </a:lnT>
                    <a:lnB w="6349" algn="ctr">
                      <a:noFill/>
                    </a:lnB>
                    <a:solidFill>
                      <a:srgbClr val="F7931A"/>
                    </a:solidFill>
                  </a:tcPr>
                </a:tc>
                <a:tc>
                  <a:txBody>
                    <a:bodyPr/>
                    <a:p>
                      <a:pPr marL="25400" indent="0" algn="ctr"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  <a:defRPr/>
                      </a:pPr>
                      <a:r>
                        <a:rPr lang="it-IT" sz="1000">
                          <a:solidFill>
                            <a:srgbClr val="18294F"/>
                          </a:solidFill>
                          <a:latin typeface="Adwaita Sans"/>
                          <a:ea typeface="Adwaita Sans"/>
                          <a:cs typeface="Adwaita Sans"/>
                        </a:rPr>
                        <a:t>ENT+CS</a:t>
                      </a:r>
                      <a:endParaRPr sz="1000">
                        <a:solidFill>
                          <a:srgbClr val="18294F"/>
                        </a:solidFill>
                        <a:latin typeface="Adwaita Sans"/>
                        <a:cs typeface="Adwaita Sans"/>
                      </a:endParaRPr>
                    </a:p>
                  </a:txBody>
                  <a:tcPr anchor="ctr">
                    <a:lnL w="6349" algn="ctr">
                      <a:noFill/>
                    </a:lnL>
                    <a:lnR w="6349" algn="ctr">
                      <a:noFill/>
                    </a:lnR>
                    <a:lnT w="6349" algn="ctr">
                      <a:noFill/>
                    </a:lnT>
                    <a:lnB w="6349" algn="ctr">
                      <a:noFill/>
                    </a:lnB>
                    <a:solidFill>
                      <a:srgbClr val="F7931A"/>
                    </a:solidFill>
                  </a:tcPr>
                </a:tc>
                <a:tc>
                  <a:txBody>
                    <a:bodyPr/>
                    <a:p>
                      <a:pPr marL="25400" indent="0" algn="ctr"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  <a:defRPr/>
                      </a:pPr>
                      <a:r>
                        <a:rPr lang="it-IT" sz="1000">
                          <a:solidFill>
                            <a:srgbClr val="18294F"/>
                          </a:solidFill>
                          <a:latin typeface="Adwaita Sans"/>
                          <a:ea typeface="Adwaita Sans"/>
                          <a:cs typeface="Adwaita Sans"/>
                        </a:rPr>
                        <a:t>MS</a:t>
                      </a:r>
                      <a:endParaRPr sz="1000">
                        <a:solidFill>
                          <a:srgbClr val="18294F"/>
                        </a:solidFill>
                        <a:latin typeface="Adwaita Sans"/>
                        <a:cs typeface="Adwaita Sans"/>
                      </a:endParaRPr>
                    </a:p>
                  </a:txBody>
                  <a:tcPr anchor="ctr">
                    <a:lnL w="6349" algn="ctr">
                      <a:noFill/>
                    </a:lnL>
                    <a:lnR w="6349" algn="ctr">
                      <a:noFill/>
                    </a:lnR>
                    <a:lnT w="6349" algn="ctr">
                      <a:noFill/>
                    </a:lnT>
                    <a:lnB w="6349" algn="ctr">
                      <a:noFill/>
                    </a:lnB>
                    <a:solidFill>
                      <a:srgbClr val="F7931A"/>
                    </a:solidFill>
                  </a:tcPr>
                </a:tc>
              </a:tr>
              <a:tr h="379200">
                <a:tc>
                  <a:txBody>
                    <a:bodyPr/>
                    <a:p>
                      <a:pPr marL="25400" indent="0" algn="ctr"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  <a:defRPr/>
                      </a:pPr>
                      <a:r>
                        <a:rPr lang="it-IT" sz="1000" b="1">
                          <a:solidFill>
                            <a:schemeClr val="bg1"/>
                          </a:solidFill>
                          <a:latin typeface="Adwaita Sans"/>
                          <a:ea typeface="Adwaita Sans"/>
                          <a:cs typeface="Adwaita Sans"/>
                        </a:rPr>
                        <a:t>128</a:t>
                      </a:r>
                      <a:endParaRPr sz="1000" b="1">
                        <a:solidFill>
                          <a:srgbClr val="F7931A"/>
                        </a:solidFill>
                        <a:latin typeface="Adwaita Sans"/>
                        <a:cs typeface="Adwaita Sans"/>
                      </a:endParaRPr>
                    </a:p>
                  </a:txBody>
                  <a:tcPr anchor="ctr">
                    <a:lnL w="6349" algn="ctr">
                      <a:noFill/>
                    </a:lnL>
                    <a:lnR w="6349" algn="ctr">
                      <a:noFill/>
                    </a:lnR>
                    <a:lnT w="6349" algn="ctr">
                      <a:noFill/>
                    </a:lnT>
                    <a:lnB w="6349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p>
                      <a:pPr marL="25400" indent="0" algn="ctr"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  <a:defRPr/>
                      </a:pPr>
                      <a:r>
                        <a:rPr lang="it-IT" sz="1000" b="1">
                          <a:solidFill>
                            <a:schemeClr val="bg1"/>
                          </a:solidFill>
                          <a:latin typeface="Adwaita Sans"/>
                          <a:ea typeface="Adwaita Sans"/>
                          <a:cs typeface="Adwaita Sans"/>
                        </a:rPr>
                        <a:t>4</a:t>
                      </a:r>
                      <a:endParaRPr sz="1000" b="1">
                        <a:solidFill>
                          <a:schemeClr val="bg1"/>
                        </a:solidFill>
                        <a:latin typeface="Adwaita Sans"/>
                        <a:cs typeface="Adwaita Sans"/>
                      </a:endParaRPr>
                    </a:p>
                  </a:txBody>
                  <a:tcPr anchor="ctr">
                    <a:lnL w="6349" algn="ctr">
                      <a:noFill/>
                    </a:lnL>
                    <a:lnR w="6349" algn="ctr">
                      <a:noFill/>
                    </a:lnR>
                    <a:lnT w="6349" algn="ctr">
                      <a:noFill/>
                    </a:lnT>
                    <a:lnB w="6349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p>
                      <a:pPr marL="25400" indent="0" algn="ctr"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  <a:defRPr/>
                      </a:pPr>
                      <a:r>
                        <a:rPr lang="it-IT" sz="1000" b="1">
                          <a:solidFill>
                            <a:schemeClr val="bg1"/>
                          </a:solidFill>
                          <a:latin typeface="Adwaita Sans"/>
                          <a:ea typeface="Adwaita Sans"/>
                          <a:cs typeface="Adwaita Sans"/>
                        </a:rPr>
                        <a:t>132</a:t>
                      </a:r>
                      <a:endParaRPr sz="1000" b="1">
                        <a:solidFill>
                          <a:schemeClr val="bg1"/>
                        </a:solidFill>
                        <a:latin typeface="Adwaita Sans"/>
                        <a:cs typeface="Adwaita Sans"/>
                      </a:endParaRPr>
                    </a:p>
                  </a:txBody>
                  <a:tcPr anchor="ctr">
                    <a:lnL w="6349" algn="ctr">
                      <a:noFill/>
                    </a:lnL>
                    <a:lnR w="6349" algn="ctr">
                      <a:noFill/>
                    </a:lnR>
                    <a:lnT w="6349" algn="ctr">
                      <a:noFill/>
                    </a:lnT>
                    <a:lnB w="6349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p>
                      <a:pPr marL="25400" indent="0" algn="ctr"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  <a:defRPr/>
                      </a:pPr>
                      <a:r>
                        <a:rPr lang="it-IT" sz="1000" b="1">
                          <a:solidFill>
                            <a:schemeClr val="bg1"/>
                          </a:solidFill>
                          <a:latin typeface="Adwaita Sans"/>
                          <a:ea typeface="Adwaita Sans"/>
                          <a:cs typeface="Adwaita Sans"/>
                        </a:rPr>
                        <a:t>12</a:t>
                      </a:r>
                      <a:endParaRPr sz="1000" b="1">
                        <a:solidFill>
                          <a:schemeClr val="bg1"/>
                        </a:solidFill>
                        <a:latin typeface="Adwaita Sans"/>
                        <a:cs typeface="Adwaita Sans"/>
                      </a:endParaRPr>
                    </a:p>
                  </a:txBody>
                  <a:tcPr anchor="ctr">
                    <a:lnL w="6349" algn="ctr">
                      <a:noFill/>
                    </a:lnL>
                    <a:lnR w="6349" algn="ctr">
                      <a:noFill/>
                    </a:lnR>
                    <a:lnT w="6349" algn="ctr">
                      <a:noFill/>
                    </a:lnT>
                    <a:lnB w="6349" algn="ctr">
                      <a:noFill/>
                    </a:lnB>
                    <a:solidFill>
                      <a:srgbClr val="1E293B"/>
                    </a:solidFill>
                  </a:tcPr>
                </a:tc>
              </a:tr>
              <a:tr h="379200">
                <a:tc>
                  <a:txBody>
                    <a:bodyPr/>
                    <a:p>
                      <a:pPr marL="25400" indent="0" algn="ctr"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  <a:defRPr/>
                      </a:pPr>
                      <a:r>
                        <a:rPr lang="it-IT" sz="1000" b="1">
                          <a:solidFill>
                            <a:schemeClr val="bg1"/>
                          </a:solidFill>
                          <a:latin typeface="Adwaita Sans"/>
                          <a:ea typeface="Adwaita Sans"/>
                          <a:cs typeface="Adwaita Sans"/>
                        </a:rPr>
                        <a:t>160</a:t>
                      </a:r>
                      <a:endParaRPr sz="1000" b="1">
                        <a:solidFill>
                          <a:srgbClr val="1E293B"/>
                        </a:solidFill>
                        <a:latin typeface="Adwaita Sans"/>
                        <a:cs typeface="Adwaita Sans"/>
                      </a:endParaRPr>
                    </a:p>
                  </a:txBody>
                  <a:tcPr anchor="ctr">
                    <a:lnL w="6349" algn="ctr">
                      <a:noFill/>
                    </a:lnL>
                    <a:lnR w="6349" algn="ctr">
                      <a:noFill/>
                    </a:lnR>
                    <a:lnT w="6349" algn="ctr">
                      <a:noFill/>
                    </a:lnT>
                    <a:lnB w="6349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p>
                      <a:pPr marL="25400" indent="0" algn="ctr"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  <a:defRPr/>
                      </a:pPr>
                      <a:r>
                        <a:rPr lang="it-IT" sz="1000" b="1">
                          <a:solidFill>
                            <a:schemeClr val="bg1"/>
                          </a:solidFill>
                          <a:latin typeface="Adwaita Sans"/>
                          <a:ea typeface="Adwaita Sans"/>
                          <a:cs typeface="Adwaita Sans"/>
                        </a:rPr>
                        <a:t>5</a:t>
                      </a:r>
                      <a:endParaRPr sz="1000" b="1">
                        <a:solidFill>
                          <a:schemeClr val="bg1"/>
                        </a:solidFill>
                        <a:latin typeface="Adwaita Sans"/>
                        <a:cs typeface="Adwaita Sans"/>
                      </a:endParaRPr>
                    </a:p>
                  </a:txBody>
                  <a:tcPr anchor="ctr">
                    <a:lnL w="6349" algn="ctr">
                      <a:noFill/>
                    </a:lnL>
                    <a:lnR w="6349" algn="ctr">
                      <a:noFill/>
                    </a:lnR>
                    <a:lnT w="6349" algn="ctr">
                      <a:noFill/>
                    </a:lnT>
                    <a:lnB w="6349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p>
                      <a:pPr marL="25400" indent="0" algn="ctr"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  <a:defRPr/>
                      </a:pPr>
                      <a:r>
                        <a:rPr lang="it-IT" sz="1000" b="1">
                          <a:solidFill>
                            <a:schemeClr val="bg1"/>
                          </a:solidFill>
                          <a:latin typeface="Adwaita Sans"/>
                          <a:ea typeface="Adwaita Sans"/>
                          <a:cs typeface="Adwaita Sans"/>
                        </a:rPr>
                        <a:t>165</a:t>
                      </a:r>
                      <a:endParaRPr sz="1000" b="1">
                        <a:solidFill>
                          <a:schemeClr val="bg1"/>
                        </a:solidFill>
                        <a:latin typeface="Adwaita Sans"/>
                        <a:cs typeface="Adwaita Sans"/>
                      </a:endParaRPr>
                    </a:p>
                  </a:txBody>
                  <a:tcPr anchor="ctr">
                    <a:lnL w="6349" algn="ctr">
                      <a:noFill/>
                    </a:lnL>
                    <a:lnR w="6349" algn="ctr">
                      <a:noFill/>
                    </a:lnR>
                    <a:lnT w="6349" algn="ctr">
                      <a:noFill/>
                    </a:lnT>
                    <a:lnB w="6349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p>
                      <a:pPr marL="25400" indent="0" algn="ctr"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  <a:defRPr/>
                      </a:pPr>
                      <a:r>
                        <a:rPr lang="it-IT" sz="1000" b="1">
                          <a:solidFill>
                            <a:schemeClr val="bg1"/>
                          </a:solidFill>
                          <a:latin typeface="Adwaita Sans"/>
                          <a:ea typeface="Adwaita Sans"/>
                          <a:cs typeface="Adwaita Sans"/>
                        </a:rPr>
                        <a:t>15</a:t>
                      </a:r>
                      <a:endParaRPr sz="1000" b="1">
                        <a:solidFill>
                          <a:schemeClr val="bg1"/>
                        </a:solidFill>
                        <a:latin typeface="Adwaita Sans"/>
                        <a:cs typeface="Adwaita Sans"/>
                      </a:endParaRPr>
                    </a:p>
                  </a:txBody>
                  <a:tcPr anchor="ctr">
                    <a:lnL w="6349" algn="ctr">
                      <a:noFill/>
                    </a:lnL>
                    <a:lnR w="6349" algn="ctr">
                      <a:noFill/>
                    </a:lnR>
                    <a:lnT w="6349" algn="ctr">
                      <a:noFill/>
                    </a:lnT>
                    <a:lnB w="6349" algn="ctr">
                      <a:noFill/>
                    </a:lnB>
                    <a:solidFill>
                      <a:srgbClr val="1E293B"/>
                    </a:solidFill>
                  </a:tcPr>
                </a:tc>
              </a:tr>
              <a:tr h="379200">
                <a:tc>
                  <a:txBody>
                    <a:bodyPr/>
                    <a:p>
                      <a:pPr marL="25400" indent="0" algn="ctr"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  <a:defRPr/>
                      </a:pPr>
                      <a:r>
                        <a:rPr lang="it-IT" sz="1000" b="1">
                          <a:solidFill>
                            <a:schemeClr val="bg1"/>
                          </a:solidFill>
                          <a:latin typeface="Adwaita Sans"/>
                          <a:ea typeface="Adwaita Sans"/>
                          <a:cs typeface="Adwaita Sans"/>
                        </a:rPr>
                        <a:t>192</a:t>
                      </a:r>
                      <a:endParaRPr sz="1000" b="1">
                        <a:solidFill>
                          <a:schemeClr val="bg1"/>
                        </a:solidFill>
                        <a:latin typeface="Adwaita Sans"/>
                        <a:cs typeface="Adwaita Sans"/>
                      </a:endParaRPr>
                    </a:p>
                  </a:txBody>
                  <a:tcPr anchor="ctr">
                    <a:lnL w="6349" algn="ctr">
                      <a:noFill/>
                    </a:lnL>
                    <a:lnR w="6349" algn="ctr">
                      <a:noFill/>
                    </a:lnR>
                    <a:lnT w="6349" algn="ctr">
                      <a:noFill/>
                    </a:lnT>
                    <a:lnB w="6349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p>
                      <a:pPr marL="25400" indent="0" algn="ctr"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  <a:defRPr/>
                      </a:pPr>
                      <a:r>
                        <a:rPr lang="it-IT" sz="1000" b="1">
                          <a:solidFill>
                            <a:schemeClr val="bg1"/>
                          </a:solidFill>
                          <a:latin typeface="Adwaita Sans"/>
                          <a:ea typeface="Adwaita Sans"/>
                          <a:cs typeface="Adwaita Sans"/>
                        </a:rPr>
                        <a:t>6</a:t>
                      </a:r>
                      <a:endParaRPr sz="1000" b="1">
                        <a:solidFill>
                          <a:schemeClr val="bg1"/>
                        </a:solidFill>
                        <a:latin typeface="Adwaita Sans"/>
                        <a:cs typeface="Adwaita Sans"/>
                      </a:endParaRPr>
                    </a:p>
                  </a:txBody>
                  <a:tcPr anchor="ctr">
                    <a:lnL w="6349" algn="ctr">
                      <a:noFill/>
                    </a:lnL>
                    <a:lnR w="6349" algn="ctr">
                      <a:noFill/>
                    </a:lnR>
                    <a:lnT w="6349" algn="ctr">
                      <a:noFill/>
                    </a:lnT>
                    <a:lnB w="6349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p>
                      <a:pPr marL="25400" indent="0" algn="ctr"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  <a:defRPr/>
                      </a:pPr>
                      <a:r>
                        <a:rPr lang="it-IT" sz="1000" b="1">
                          <a:solidFill>
                            <a:schemeClr val="bg1"/>
                          </a:solidFill>
                          <a:latin typeface="Adwaita Sans"/>
                          <a:ea typeface="Adwaita Sans"/>
                          <a:cs typeface="Adwaita Sans"/>
                        </a:rPr>
                        <a:t>198</a:t>
                      </a:r>
                      <a:endParaRPr sz="1000" b="1">
                        <a:solidFill>
                          <a:schemeClr val="bg1"/>
                        </a:solidFill>
                        <a:latin typeface="Adwaita Sans"/>
                        <a:cs typeface="Adwaita Sans"/>
                      </a:endParaRPr>
                    </a:p>
                  </a:txBody>
                  <a:tcPr anchor="ctr">
                    <a:lnL w="6349" algn="ctr">
                      <a:noFill/>
                    </a:lnL>
                    <a:lnR w="6349" algn="ctr">
                      <a:noFill/>
                    </a:lnR>
                    <a:lnT w="6349" algn="ctr">
                      <a:noFill/>
                    </a:lnT>
                    <a:lnB w="6349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p>
                      <a:pPr marL="25400" indent="0" algn="ctr"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  <a:defRPr/>
                      </a:pPr>
                      <a:r>
                        <a:rPr lang="it-IT" sz="1000" b="1">
                          <a:solidFill>
                            <a:schemeClr val="bg1"/>
                          </a:solidFill>
                          <a:latin typeface="Adwaita Sans"/>
                          <a:ea typeface="Adwaita Sans"/>
                          <a:cs typeface="Adwaita Sans"/>
                        </a:rPr>
                        <a:t>18</a:t>
                      </a:r>
                      <a:endParaRPr sz="1000" b="1">
                        <a:solidFill>
                          <a:schemeClr val="bg1"/>
                        </a:solidFill>
                        <a:latin typeface="Adwaita Sans"/>
                        <a:cs typeface="Adwaita Sans"/>
                      </a:endParaRPr>
                    </a:p>
                  </a:txBody>
                  <a:tcPr anchor="ctr">
                    <a:lnL w="6349" algn="ctr">
                      <a:noFill/>
                    </a:lnL>
                    <a:lnR w="6349" algn="ctr">
                      <a:noFill/>
                    </a:lnR>
                    <a:lnT w="6349" algn="ctr">
                      <a:noFill/>
                    </a:lnT>
                    <a:lnB w="6349" algn="ctr">
                      <a:noFill/>
                    </a:lnB>
                    <a:solidFill>
                      <a:srgbClr val="1E293B"/>
                    </a:solidFill>
                  </a:tcPr>
                </a:tc>
              </a:tr>
              <a:tr h="379200">
                <a:tc>
                  <a:txBody>
                    <a:bodyPr/>
                    <a:p>
                      <a:pPr marL="25400" indent="0" algn="ctr"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  <a:defRPr/>
                      </a:pPr>
                      <a:r>
                        <a:rPr lang="it-IT" sz="1000" b="1">
                          <a:solidFill>
                            <a:schemeClr val="bg1"/>
                          </a:solidFill>
                          <a:latin typeface="Adwaita Sans"/>
                          <a:ea typeface="Adwaita Sans"/>
                          <a:cs typeface="Adwaita Sans"/>
                        </a:rPr>
                        <a:t>224</a:t>
                      </a:r>
                      <a:endParaRPr sz="1000" b="1">
                        <a:solidFill>
                          <a:schemeClr val="bg1"/>
                        </a:solidFill>
                        <a:latin typeface="Adwaita Sans"/>
                        <a:cs typeface="Adwaita Sans"/>
                      </a:endParaRPr>
                    </a:p>
                  </a:txBody>
                  <a:tcPr anchor="ctr">
                    <a:lnL w="6349" algn="ctr">
                      <a:noFill/>
                    </a:lnL>
                    <a:lnR w="6349" algn="ctr">
                      <a:noFill/>
                    </a:lnR>
                    <a:lnT w="6349" algn="ctr">
                      <a:noFill/>
                    </a:lnT>
                    <a:lnB w="6349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p>
                      <a:pPr marL="25400" indent="0" algn="ctr"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  <a:defRPr/>
                      </a:pPr>
                      <a:r>
                        <a:rPr lang="it-IT" sz="1000" b="1">
                          <a:solidFill>
                            <a:schemeClr val="bg1"/>
                          </a:solidFill>
                          <a:latin typeface="Adwaita Sans"/>
                          <a:ea typeface="Adwaita Sans"/>
                          <a:cs typeface="Adwaita Sans"/>
                        </a:rPr>
                        <a:t>7</a:t>
                      </a:r>
                      <a:endParaRPr sz="1000" b="1">
                        <a:solidFill>
                          <a:schemeClr val="bg1"/>
                        </a:solidFill>
                        <a:latin typeface="Adwaita Sans"/>
                        <a:cs typeface="Adwaita Sans"/>
                      </a:endParaRPr>
                    </a:p>
                  </a:txBody>
                  <a:tcPr anchor="ctr">
                    <a:lnL w="6349" algn="ctr">
                      <a:noFill/>
                    </a:lnL>
                    <a:lnR w="6349" algn="ctr">
                      <a:noFill/>
                    </a:lnR>
                    <a:lnT w="6349" algn="ctr">
                      <a:noFill/>
                    </a:lnT>
                    <a:lnB w="6349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p>
                      <a:pPr marL="25400" indent="0" algn="ctr"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  <a:defRPr/>
                      </a:pPr>
                      <a:r>
                        <a:rPr lang="it-IT" sz="1000" b="1">
                          <a:solidFill>
                            <a:schemeClr val="bg1"/>
                          </a:solidFill>
                          <a:latin typeface="Adwaita Sans"/>
                          <a:ea typeface="Adwaita Sans"/>
                          <a:cs typeface="Adwaita Sans"/>
                        </a:rPr>
                        <a:t>231</a:t>
                      </a:r>
                      <a:endParaRPr sz="1000" b="1">
                        <a:solidFill>
                          <a:schemeClr val="bg1"/>
                        </a:solidFill>
                        <a:latin typeface="Adwaita Sans"/>
                        <a:cs typeface="Adwaita Sans"/>
                      </a:endParaRPr>
                    </a:p>
                  </a:txBody>
                  <a:tcPr anchor="ctr">
                    <a:lnL w="6349" algn="ctr">
                      <a:noFill/>
                    </a:lnL>
                    <a:lnR w="6349" algn="ctr">
                      <a:noFill/>
                    </a:lnR>
                    <a:lnT w="6349" algn="ctr">
                      <a:noFill/>
                    </a:lnT>
                    <a:lnB w="6349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p>
                      <a:pPr marL="25400" indent="0" algn="ctr"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  <a:defRPr/>
                      </a:pPr>
                      <a:r>
                        <a:rPr lang="it-IT" sz="1000" b="1">
                          <a:solidFill>
                            <a:schemeClr val="bg1"/>
                          </a:solidFill>
                          <a:latin typeface="Adwaita Sans"/>
                          <a:ea typeface="Adwaita Sans"/>
                          <a:cs typeface="Adwaita Sans"/>
                        </a:rPr>
                        <a:t>21</a:t>
                      </a:r>
                      <a:endParaRPr sz="1000" b="1">
                        <a:solidFill>
                          <a:schemeClr val="bg1"/>
                        </a:solidFill>
                        <a:latin typeface="Adwaita Sans"/>
                        <a:cs typeface="Adwaita Sans"/>
                      </a:endParaRPr>
                    </a:p>
                  </a:txBody>
                  <a:tcPr anchor="ctr">
                    <a:lnL w="6349" algn="ctr">
                      <a:noFill/>
                    </a:lnL>
                    <a:lnR w="6349" algn="ctr">
                      <a:noFill/>
                    </a:lnR>
                    <a:lnT w="6349" algn="ctr">
                      <a:noFill/>
                    </a:lnT>
                    <a:lnB w="6349" algn="ctr">
                      <a:noFill/>
                    </a:lnB>
                    <a:solidFill>
                      <a:srgbClr val="1E293B"/>
                    </a:solidFill>
                  </a:tcPr>
                </a:tc>
              </a:tr>
              <a:tr h="379200">
                <a:tc>
                  <a:txBody>
                    <a:bodyPr/>
                    <a:p>
                      <a:pPr marL="25400" indent="0" algn="ctr"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  <a:defRPr/>
                      </a:pPr>
                      <a:r>
                        <a:rPr lang="it-IT" sz="1000" b="1">
                          <a:solidFill>
                            <a:schemeClr val="bg1"/>
                          </a:solidFill>
                          <a:latin typeface="Adwaita Sans"/>
                          <a:ea typeface="Adwaita Sans"/>
                          <a:cs typeface="Adwaita Sans"/>
                        </a:rPr>
                        <a:t>256</a:t>
                      </a:r>
                      <a:endParaRPr sz="1000" b="1">
                        <a:solidFill>
                          <a:schemeClr val="bg1"/>
                        </a:solidFill>
                        <a:latin typeface="Adwaita Sans"/>
                        <a:cs typeface="Adwaita Sans"/>
                      </a:endParaRPr>
                    </a:p>
                  </a:txBody>
                  <a:tcPr anchor="ctr">
                    <a:lnL w="6349" algn="ctr">
                      <a:noFill/>
                    </a:lnL>
                    <a:lnR w="6349" algn="ctr">
                      <a:noFill/>
                    </a:lnR>
                    <a:lnT w="6349" algn="ctr">
                      <a:noFill/>
                    </a:lnT>
                    <a:lnB w="6349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p>
                      <a:pPr marL="25400" indent="0" algn="ctr"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  <a:defRPr/>
                      </a:pPr>
                      <a:r>
                        <a:rPr lang="it-IT" sz="1000" b="1">
                          <a:solidFill>
                            <a:schemeClr val="bg1"/>
                          </a:solidFill>
                          <a:latin typeface="Adwaita Sans"/>
                          <a:ea typeface="Adwaita Sans"/>
                          <a:cs typeface="Adwaita Sans"/>
                        </a:rPr>
                        <a:t>8</a:t>
                      </a:r>
                      <a:endParaRPr sz="1000" b="1">
                        <a:solidFill>
                          <a:schemeClr val="bg1"/>
                        </a:solidFill>
                        <a:latin typeface="Adwaita Sans"/>
                        <a:cs typeface="Adwaita Sans"/>
                      </a:endParaRPr>
                    </a:p>
                  </a:txBody>
                  <a:tcPr anchor="ctr">
                    <a:lnL w="6349" algn="ctr">
                      <a:noFill/>
                    </a:lnL>
                    <a:lnR w="6349" algn="ctr">
                      <a:noFill/>
                    </a:lnR>
                    <a:lnT w="6349" algn="ctr">
                      <a:noFill/>
                    </a:lnT>
                    <a:lnB w="6349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p>
                      <a:pPr marL="25400" indent="0" algn="ctr"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  <a:defRPr/>
                      </a:pPr>
                      <a:r>
                        <a:rPr lang="it-IT" sz="1000" b="1">
                          <a:solidFill>
                            <a:schemeClr val="bg1"/>
                          </a:solidFill>
                          <a:latin typeface="Adwaita Sans"/>
                          <a:ea typeface="Adwaita Sans"/>
                          <a:cs typeface="Adwaita Sans"/>
                        </a:rPr>
                        <a:t>264</a:t>
                      </a:r>
                      <a:endParaRPr sz="1000" b="1">
                        <a:solidFill>
                          <a:schemeClr val="bg1"/>
                        </a:solidFill>
                        <a:latin typeface="Adwaita Sans"/>
                        <a:cs typeface="Adwaita Sans"/>
                      </a:endParaRPr>
                    </a:p>
                  </a:txBody>
                  <a:tcPr anchor="ctr">
                    <a:lnL w="6349" algn="ctr">
                      <a:noFill/>
                    </a:lnL>
                    <a:lnR w="6349" algn="ctr">
                      <a:noFill/>
                    </a:lnR>
                    <a:lnT w="6349" algn="ctr">
                      <a:noFill/>
                    </a:lnT>
                    <a:lnB w="6349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p>
                      <a:pPr marL="25400" indent="0" algn="ctr"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  <a:defRPr/>
                      </a:pPr>
                      <a:r>
                        <a:rPr lang="it-IT" sz="1000" b="1">
                          <a:solidFill>
                            <a:schemeClr val="bg1"/>
                          </a:solidFill>
                          <a:latin typeface="Adwaita Sans"/>
                          <a:ea typeface="Adwaita Sans"/>
                          <a:cs typeface="Adwaita Sans"/>
                        </a:rPr>
                        <a:t>24</a:t>
                      </a:r>
                      <a:endParaRPr sz="1000" b="1">
                        <a:solidFill>
                          <a:schemeClr val="bg1"/>
                        </a:solidFill>
                        <a:latin typeface="Adwaita Sans"/>
                        <a:cs typeface="Adwaita Sans"/>
                      </a:endParaRPr>
                    </a:p>
                  </a:txBody>
                  <a:tcPr anchor="ctr">
                    <a:lnL w="6349" algn="ctr">
                      <a:noFill/>
                    </a:lnL>
                    <a:lnR w="6349" algn="ctr">
                      <a:noFill/>
                    </a:lnR>
                    <a:lnT w="6349" algn="ctr">
                      <a:noFill/>
                    </a:lnT>
                    <a:lnB w="6349" algn="ctr">
                      <a:noFill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87334070" name="Google Shape;121;p15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0" y="19049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3853871" name="Google Shape;124;p15"/>
          <p:cNvSpPr txBox="1"/>
          <p:nvPr/>
        </p:nvSpPr>
        <p:spPr bwMode="auto">
          <a:xfrm>
            <a:off x="847724" y="518722"/>
            <a:ext cx="11351474" cy="388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Generazione della </a:t>
            </a:r>
            <a:r>
              <a:rPr lang="it-IT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Master Key</a:t>
            </a:r>
            <a:r>
              <a:rPr lang="it-IT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 e HD</a:t>
            </a:r>
            <a:r>
              <a:rPr lang="en-US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 (BIP-3</a:t>
            </a:r>
            <a:r>
              <a:rPr lang="it-IT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</a:t>
            </a:r>
            <a:r>
              <a:rPr lang="en-US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)</a:t>
            </a:r>
            <a:endParaRPr/>
          </a:p>
        </p:txBody>
      </p:sp>
      <p:pic>
        <p:nvPicPr>
          <p:cNvPr id="1984949553" name="Google Shape;126;p15" descr="image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466724" y="576261"/>
            <a:ext cx="266699" cy="2666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9462765" name=""/>
          <p:cNvGrpSpPr/>
          <p:nvPr/>
        </p:nvGrpSpPr>
        <p:grpSpPr bwMode="auto">
          <a:xfrm>
            <a:off x="2409351" y="2797942"/>
            <a:ext cx="8060001" cy="1130347"/>
            <a:chOff x="0" y="0"/>
            <a:chExt cx="8060001" cy="1130347"/>
          </a:xfrm>
        </p:grpSpPr>
        <p:pic>
          <p:nvPicPr>
            <p:cNvPr id="317610623" name="Google Shape;122;p15" descr="image.png"/>
            <p:cNvPicPr/>
            <p:nvPr/>
          </p:nvPicPr>
          <p:blipFill rotWithShape="1">
            <a:blip r:embed="rId5">
              <a:alphaModFix/>
            </a:blip>
            <a:srcRect l="0" t="0" r="0" b="0"/>
            <a:stretch/>
          </p:blipFill>
          <p:spPr bwMode="auto">
            <a:xfrm rot="0" flipH="0" flipV="0">
              <a:off x="0" y="0"/>
              <a:ext cx="8041027" cy="112540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9113194" name="Google Shape;131;p15"/>
            <p:cNvSpPr txBox="1"/>
            <p:nvPr/>
          </p:nvSpPr>
          <p:spPr bwMode="auto">
            <a:xfrm rot="0" flipH="0" flipV="0">
              <a:off x="168218" y="169867"/>
              <a:ext cx="7891782" cy="9604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r>
                <a:rPr lang="it-IT" sz="1400" b="1" i="0" u="none" strike="noStrike" cap="none" spc="0">
                  <a:solidFill>
                    <a:srgbClr val="CBD5E1"/>
                  </a:solidFill>
                  <a:latin typeface="Adwaita Sans"/>
                  <a:ea typeface="Adwaita Sans"/>
                  <a:cs typeface="Adwaita Sans"/>
                </a:rPr>
                <a:t>BIP-32</a:t>
              </a:r>
              <a:r>
                <a:rPr lang="en-US" sz="1400" b="1" i="0" u="none" strike="noStrike" cap="none" spc="0">
                  <a:solidFill>
                    <a:srgbClr val="CBD5E1"/>
                  </a:solidFill>
                  <a:latin typeface="Adwaita Sans"/>
                  <a:ea typeface="Adwaita Sans"/>
                  <a:cs typeface="Adwaita Sans"/>
                </a:rPr>
                <a:t>:</a:t>
              </a:r>
              <a:r>
                <a:rPr lang="it-IT" sz="1400" b="1" i="0" u="none" strike="noStrike" cap="none" spc="0">
                  <a:solidFill>
                    <a:srgbClr val="CBD5E1"/>
                  </a:solidFill>
                  <a:latin typeface="Adwaita Sans"/>
                  <a:ea typeface="Adwaita Sans"/>
                  <a:cs typeface="Adwaita Sans"/>
                </a:rPr>
                <a:t> </a:t>
              </a:r>
              <a:r>
                <a:rPr lang="it-IT" sz="1400" b="0" i="0" u="none" strike="noStrike" cap="none" spc="0">
                  <a:solidFill>
                    <a:srgbClr val="CBD5E1"/>
                  </a:solidFill>
                  <a:latin typeface="Adwaita Sans"/>
                  <a:ea typeface="Adwaita Sans"/>
                  <a:cs typeface="Adwaita Sans"/>
                </a:rPr>
                <a:t>Permette di generare un intero albero di chiavi a partire da un’unico </a:t>
              </a:r>
              <a:r>
                <a:rPr lang="it-IT" sz="1400" b="1" i="0" u="none" strike="noStrike" cap="none" spc="0">
                  <a:solidFill>
                    <a:srgbClr val="CBD5E1"/>
                  </a:solidFill>
                  <a:latin typeface="Adwaita Sans"/>
                  <a:ea typeface="Adwaita Sans"/>
                  <a:cs typeface="Adwaita Sans"/>
                </a:rPr>
                <a:t>seed iniziale</a:t>
              </a:r>
              <a:r>
                <a:rPr lang="it-IT" sz="1400" b="0" i="0" u="none" strike="noStrike" cap="none" spc="0">
                  <a:solidFill>
                    <a:srgbClr val="CBD5E1"/>
                  </a:solidFill>
                  <a:latin typeface="Adwaita Sans"/>
                  <a:ea typeface="Adwaita Sans"/>
                  <a:cs typeface="Adwaita Sans"/>
                </a:rPr>
                <a:t>. Tutte le chiavi derivano da una chiave master, pertanto è necessario solo salvare il seed iniziale (mnemonic) per ricostruire l’intero albero di chiavi.</a:t>
              </a:r>
              <a:endParaRPr sz="1400" b="0"/>
            </a:p>
          </p:txBody>
        </p:sp>
      </p:grpSp>
      <p:sp>
        <p:nvSpPr>
          <p:cNvPr id="61416161" name=""/>
          <p:cNvSpPr txBox="1"/>
          <p:nvPr/>
        </p:nvSpPr>
        <p:spPr bwMode="auto">
          <a:xfrm rot="0" flipH="0" flipV="0">
            <a:off x="600075" y="4807113"/>
            <a:ext cx="11314611" cy="86162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39821" marR="0" indent="-239821" algn="l" defTabSz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Wingdings"/>
              <a:buChar char="ü"/>
              <a:defRPr/>
            </a:pPr>
            <a:r>
              <a:rPr lang="it-IT" sz="1600" b="1" strike="noStrike" cap="none" spc="0">
                <a:solidFill>
                  <a:schemeClr val="bg1"/>
                </a:solidFill>
                <a:latin typeface="Adwaita Sans"/>
                <a:ea typeface="Adwaita Sans"/>
                <a:cs typeface="Adwaita Sans"/>
              </a:rPr>
              <a:t>Extended Private Key:</a:t>
            </a:r>
            <a:r>
              <a:rPr lang="it-IT" sz="1600" strike="noStrike" cap="none" spc="0">
                <a:solidFill>
                  <a:schemeClr val="bg1"/>
                </a:solidFill>
                <a:latin typeface="Adwaita Sans"/>
                <a:ea typeface="Adwaita Sans"/>
                <a:cs typeface="Adwaita Sans"/>
              </a:rPr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it-IT" sz="1600" u="none" strike="noStrike" cap="none" spc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xpriv=</m:t>
                      </m:r>
                      <m:d>
                        <m:dPr>
                          <m:begChr m:val="("/>
                          <m:endChr m:val=")"/>
                          <m:ctrlPr>
                            <a:rPr lang="it-IT" sz="1600" u="none" strike="noStrike" cap="none" spc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sz="1600" u="none" strike="noStrike" cap="none" spc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it-IT" sz="1400" u="none" strike="noStrike" cap="none" spc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it-IT" sz="1200" u="none" strike="noStrike" cap="none" spc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master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it-IT" sz="1200" u="none" strike="noStrike" cap="none" spc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it-IT" sz="1600" u="none" strike="noStrike" cap="none" spc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it-IT" sz="1200" u="none" strike="noStrike" cap="none" spc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 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it-IT" sz="1200" u="none" strike="noStrike" cap="none" spc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master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it-IT" sz="1200" u="none" strike="noStrike" cap="none" spc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</m:oMath>
                  </m:oMathPara>
                </a14:m>
              </mc:Choice>
              <mc:Fallback/>
            </mc:AlternateContent>
            <a:r>
              <a:rPr lang="it-IT" sz="1600" strike="noStrike" cap="none" spc="0">
                <a:solidFill>
                  <a:schemeClr val="bg1"/>
                </a:solidFill>
                <a:latin typeface="Adwaita Sans"/>
                <a:ea typeface="Adwaita Sans"/>
                <a:cs typeface="Adwaita Sans"/>
              </a:rPr>
              <a:t> </a:t>
            </a:r>
            <a:r>
              <a:rPr lang="it-IT" sz="1600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HMAC-SHA512</a:t>
            </a:r>
            <a:r>
              <a:rPr lang="it-IT" sz="1600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(</a:t>
            </a:r>
            <a:r>
              <a:rPr lang="it-IT" sz="1600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key = “Bitcoin seed”</a:t>
            </a:r>
            <a:r>
              <a:rPr lang="it-IT" sz="1600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, </a:t>
            </a:r>
            <a:r>
              <a:rPr lang="it-IT" sz="1600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data = seed</a:t>
            </a:r>
            <a:r>
              <a:rPr lang="it-IT" sz="1600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).</a:t>
            </a:r>
            <a:r>
              <a:rPr lang="it-IT" sz="1600" strike="noStrike" cap="none" spc="0">
                <a:solidFill>
                  <a:schemeClr val="bg1"/>
                </a:solidFill>
                <a:latin typeface="Adwaita Sans"/>
                <a:ea typeface="Adwaita Sans"/>
                <a:cs typeface="Adwaita Sans"/>
              </a:rPr>
              <a:t> </a:t>
            </a:r>
            <a:endParaRPr lang="it-IT" sz="1600" strike="noStrike" cap="none" spc="0">
              <a:solidFill>
                <a:schemeClr val="bg1"/>
              </a:solidFill>
              <a:latin typeface="Adwaita Sans"/>
              <a:ea typeface="Adwaita Sans"/>
              <a:cs typeface="Adwaita Sans"/>
            </a:endParaRPr>
          </a:p>
          <a:p>
            <a:pPr marL="239821" marR="0" indent="-239821" algn="l" defTabSz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Wingdings"/>
              <a:buChar char="ü"/>
              <a:defRPr/>
            </a:pPr>
            <a:r>
              <a:rPr lang="it-IT" sz="1600" strike="noStrike" cap="none" spc="0">
                <a:solidFill>
                  <a:schemeClr val="bg1"/>
                </a:solidFill>
                <a:latin typeface="Adwaita Sans"/>
                <a:ea typeface="Adwaita Sans"/>
                <a:cs typeface="Adwaita Sans"/>
              </a:rPr>
              <a:t>A partire da questa chiave, si derivano tutte le altre.</a:t>
            </a:r>
            <a:endParaRPr sz="1600" strike="noStrike" cap="none" spc="0">
              <a:solidFill>
                <a:schemeClr val="bg1"/>
              </a:solidFill>
              <a:latin typeface="Adwaita Sans"/>
              <a:cs typeface="Adwaita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32708329" name="Google Shape;121;p15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74297261" name="Google Shape;124;p15"/>
          <p:cNvSpPr txBox="1"/>
          <p:nvPr/>
        </p:nvSpPr>
        <p:spPr bwMode="auto">
          <a:xfrm>
            <a:off x="847724" y="518722"/>
            <a:ext cx="11351474" cy="388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Generazione della </a:t>
            </a:r>
            <a:r>
              <a:rPr lang="it-IT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Master Key</a:t>
            </a:r>
            <a:r>
              <a:rPr lang="it-IT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 e HD</a:t>
            </a:r>
            <a:r>
              <a:rPr lang="en-US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 (BIP-3</a:t>
            </a:r>
            <a:r>
              <a:rPr lang="it-IT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</a:t>
            </a:r>
            <a:r>
              <a:rPr lang="en-US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)</a:t>
            </a:r>
            <a:endParaRPr/>
          </a:p>
        </p:txBody>
      </p:sp>
      <p:pic>
        <p:nvPicPr>
          <p:cNvPr id="985007436" name="Google Shape;126;p15" descr="image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466724" y="576261"/>
            <a:ext cx="266699" cy="2666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8496222" name=""/>
          <p:cNvGrpSpPr/>
          <p:nvPr/>
        </p:nvGrpSpPr>
        <p:grpSpPr bwMode="auto">
          <a:xfrm>
            <a:off x="247492" y="1896611"/>
            <a:ext cx="5476873" cy="2986084"/>
            <a:chOff x="0" y="0"/>
            <a:chExt cx="5476873" cy="2986084"/>
          </a:xfrm>
        </p:grpSpPr>
        <p:grpSp>
          <p:nvGrpSpPr>
            <p:cNvPr id="1573944886" name=""/>
            <p:cNvGrpSpPr/>
            <p:nvPr/>
          </p:nvGrpSpPr>
          <p:grpSpPr bwMode="auto">
            <a:xfrm>
              <a:off x="0" y="0"/>
              <a:ext cx="5476873" cy="2986084"/>
              <a:chOff x="0" y="0"/>
              <a:chExt cx="5476873" cy="2986084"/>
            </a:xfrm>
          </p:grpSpPr>
          <p:pic>
            <p:nvPicPr>
              <p:cNvPr id="2023056461" name="Google Shape;154;p16" descr="image.png"/>
              <p:cNvPicPr/>
              <p:nvPr/>
            </p:nvPicPr>
            <p:blipFill rotWithShape="1">
              <a:blip r:embed="rId5">
                <a:alphaModFix/>
              </a:blip>
              <a:srcRect l="0" t="0" r="0" b="0"/>
              <a:stretch/>
            </p:blipFill>
            <p:spPr bwMode="auto">
              <a:xfrm>
                <a:off x="0" y="0"/>
                <a:ext cx="5476874" cy="298608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9156475" name="Google Shape;163;p16"/>
              <p:cNvSpPr txBox="1"/>
              <p:nvPr/>
            </p:nvSpPr>
            <p:spPr bwMode="auto">
              <a:xfrm>
                <a:off x="84250" y="188532"/>
                <a:ext cx="5258215" cy="2289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7145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r>
                  <a:rPr lang="it-IT" sz="1500" b="0" i="0" u="none" strike="noStrike" cap="none">
                    <a:solidFill>
                      <a:srgbClr val="F7931A"/>
                    </a:solidFill>
                    <a:latin typeface="Poppins SemiBold"/>
                    <a:ea typeface="Poppins SemiBold"/>
                    <a:cs typeface="Poppins SemiBold"/>
                  </a:rPr>
                  <a:t>Normal </a:t>
                </a:r>
                <a:r>
                  <a:rPr lang="en-US" sz="1500" b="0" i="0" u="none" strike="noStrike" cap="none">
                    <a:solidFill>
                      <a:srgbClr val="F7931A"/>
                    </a:solidFill>
                    <a:latin typeface="Poppins SemiBold"/>
                    <a:ea typeface="Poppins SemiBold"/>
                    <a:cs typeface="Poppins SemiBold"/>
                  </a:rPr>
                  <a:t>Derivation</a:t>
                </a:r>
                <a:endParaRPr/>
              </a:p>
            </p:txBody>
          </p:sp>
          <p:sp>
            <p:nvSpPr>
              <p:cNvPr id="311314332" name="Google Shape;164;p16"/>
              <p:cNvSpPr txBox="1"/>
              <p:nvPr/>
            </p:nvSpPr>
            <p:spPr bwMode="auto">
              <a:xfrm>
                <a:off x="217602" y="2028807"/>
                <a:ext cx="5193944" cy="8233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r>
                  <a:rPr lang="it-IT" sz="1200" b="0" i="0" u="none" strike="noStrike" cap="none">
                    <a:solidFill>
                      <a:srgbClr val="94A3B8"/>
                    </a:solidFill>
                    <a:latin typeface="Adwaita Sans"/>
                    <a:ea typeface="Adwaita Sans"/>
                    <a:cs typeface="Adwaita Sans"/>
                  </a:rPr>
                  <a:t>Permette di generare indirizzi senza usando solo la chiave pubblica del genitore, senza conoscerne la chiave privata. Usata all’interno di server </a:t>
                </a:r>
                <a:r>
                  <a:rPr lang="it-IT" sz="1200" b="1" i="0" u="none" strike="noStrike" cap="none">
                    <a:solidFill>
                      <a:srgbClr val="94A3B8"/>
                    </a:solidFill>
                    <a:latin typeface="Adwaita Sans"/>
                    <a:ea typeface="Adwaita Sans"/>
                    <a:cs typeface="Adwaita Sans"/>
                  </a:rPr>
                  <a:t>watch-only</a:t>
                </a:r>
                <a:r>
                  <a:rPr lang="it-IT" sz="1200" b="0" i="0" u="none" strike="noStrike" cap="none">
                    <a:solidFill>
                      <a:srgbClr val="94A3B8"/>
                    </a:solidFill>
                    <a:latin typeface="Adwaita Sans"/>
                    <a:ea typeface="Adwaita Sans"/>
                    <a:cs typeface="Adwaita Sans"/>
                  </a:rPr>
                  <a:t>.</a:t>
                </a:r>
                <a:endParaRPr sz="1800" b="0" i="1">
                  <a:latin typeface="Adwaita Sans"/>
                  <a:cs typeface="Adwaita Sans"/>
                </a:endParaRPr>
              </a:p>
            </p:txBody>
          </p:sp>
          <p:sp>
            <p:nvSpPr>
              <p:cNvPr id="113928183" name="Google Shape;165;p16"/>
              <p:cNvSpPr/>
              <p:nvPr/>
            </p:nvSpPr>
            <p:spPr bwMode="auto">
              <a:xfrm>
                <a:off x="331902" y="1788597"/>
                <a:ext cx="5000625" cy="19049"/>
              </a:xfrm>
              <a:prstGeom prst="rect">
                <a:avLst/>
              </a:prstGeom>
              <a:solidFill>
                <a:srgbClr val="334155"/>
              </a:solidFill>
              <a:ln>
                <a:noFill/>
              </a:ln>
            </p:spPr>
            <p:txBody>
              <a:bodyPr spcFirstLastPara="1" wrap="square" lIns="91423" tIns="45699" rIns="91423" bIns="45699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</a:endParaRPr>
              </a:p>
            </p:txBody>
          </p:sp>
        </p:grpSp>
        <p:sp>
          <p:nvSpPr>
            <p:cNvPr id="1983177721" name="Google Shape;164;p16"/>
            <p:cNvSpPr txBox="1"/>
            <p:nvPr/>
          </p:nvSpPr>
          <p:spPr bwMode="auto">
            <a:xfrm>
              <a:off x="276518" y="864421"/>
              <a:ext cx="5051383" cy="6190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r>
                <a:rPr sz="1200">
                  <a:solidFill>
                    <a:schemeClr val="bg1"/>
                  </a:solidFill>
                  <a:latin typeface="Adwaita Sans"/>
                  <a:ea typeface="Adwaita Sans"/>
                  <a:cs typeface="Adwaita Sans"/>
                </a:rPr>
                <a:t>La derivazione dei figlio </a:t>
              </a:r>
              <mc:AlternateContent xmlns:mc="http://schemas.openxmlformats.org/markup-compatibility/2006" xmlns:m="http://schemas.openxmlformats.org/officeDocument/2006/math">
                <mc:Choice xmlns:a14="http://schemas.microsoft.com/office/drawing/2010/main" Requires="a14">
                  <a14:m>
                    <m:oMathPara>
                      <m:oMathParaPr/>
                      <m:oMath>
                        <m:r>
                          <m:rPr>
                            <m:sty m:val="p"/>
                          </m:rPr>
                          <a:rPr lang="it-IT" sz="1200" u="none" strike="noStrike" cap="none" spc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(i&lt;</m:t>
                        </m:r>
                        <m:sSup>
                          <m:sSupPr>
                            <m:ctrlPr>
                              <a:rPr lang="it-IT" sz="1200" u="none" strike="noStrike" cap="none" spc="0">
                                <a:solidFill>
                                  <a:schemeClr val="bg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it-IT" sz="1200" u="none" strike="noStrike" cap="none" spc="0">
                                <a:solidFill>
                                  <a:schemeClr val="bg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it-IT" sz="1200" u="none" strike="noStrike" cap="none" spc="0">
                                <a:solidFill>
                                  <a:schemeClr val="bg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31</m:t>
                            </m:r>
                          </m:sup>
                        </m:sSup>
                        <m:r>
                          <m:rPr/>
                          <a:rPr lang="it-IT" sz="1200" u="none" strike="noStrike" cap="none" spc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)</m:t>
                        </m:r>
                      </m:oMath>
                    </m:oMathPara>
                  </a14:m>
                </mc:Choice>
                <mc:Fallback/>
              </mc:AlternateContent>
              <a:r>
                <a:rPr sz="1200">
                  <a:solidFill>
                    <a:schemeClr val="bg1"/>
                  </a:solidFill>
                  <a:latin typeface="Adwaita Sans"/>
                  <a:ea typeface="Adwaita Sans"/>
                  <a:cs typeface="Adwaita Sans"/>
                </a:rPr>
                <a:t>:</a:t>
              </a:r>
              <a:endParaRPr sz="1200">
                <a:solidFill>
                  <a:schemeClr val="bg1"/>
                </a:solidFill>
                <a:latin typeface="Adwaita Sans"/>
                <a:ea typeface="Adwaita Sans"/>
                <a:cs typeface="Adwaita Sans"/>
              </a:endParaRPr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mc:AlternateContent xmlns:mc="http://schemas.openxmlformats.org/markup-compatibility/2006" xmlns:m="http://schemas.openxmlformats.org/officeDocument/2006/math">
                <mc:Choice xmlns:a14="http://schemas.microsoft.com/office/drawing/2010/main" Requires="a14">
                  <a14:m>
                    <m:oMathPara>
                      <m:oMathParaPr/>
                      <m:oMath>
                        <m:sSub>
                          <m:sSubPr>
                            <m:ctrlPr>
                              <a:rPr lang="it-IT" sz="1200" u="none" strike="noStrike" cap="none" spc="0">
                                <a:solidFill>
                                  <a:schemeClr val="bg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it-IT" sz="1200" u="none" strike="noStrike" cap="none" spc="0">
                                <a:solidFill>
                                  <a:schemeClr val="bg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it-IT" sz="1200" u="none" strike="noStrike" cap="none" spc="0">
                                <a:solidFill>
                                  <a:schemeClr val="bg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it-IT" sz="1200" u="none" strike="noStrike" cap="none" spc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 </m:t>
                        </m:r>
                        <m:sSub>
                          <m:sSubPr>
                            <m:ctrlPr>
                              <a:rPr lang="it-IT" sz="1200" u="none" strike="noStrike" cap="none" spc="0">
                                <a:solidFill>
                                  <a:schemeClr val="bg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it-IT" sz="1200" u="none" strike="noStrike" cap="none" spc="0">
                                <a:solidFill>
                                  <a:schemeClr val="bg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it-IT" sz="1200" u="none" strike="noStrike" cap="none" spc="0">
                                <a:solidFill>
                                  <a:schemeClr val="bg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it-IT" sz="1200" u="none" strike="noStrike" cap="none" spc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it-IT" sz="1200" u="none" strike="noStrike" cap="none" spc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HMAC-SHA512</m:t>
                        </m:r>
                        <m:d>
                          <m:dPr>
                            <m:begChr m:val="("/>
                            <m:endChr m:val=")"/>
                            <m:ctrlPr>
                              <a:rPr lang="it-IT" sz="1200" u="none" strike="noStrike" cap="none" spc="0">
                                <a:solidFill>
                                  <a:schemeClr val="bg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it-IT" sz="1200" u="none" strike="noStrike" cap="none" spc="0">
                                    <a:solidFill>
                                      <a:schemeClr val="bg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it-IT" sz="1200" u="none" strike="noStrike" cap="none" spc="0">
                                    <a:solidFill>
                                      <a:schemeClr val="bg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it-IT" sz="1200" u="none" strike="noStrike" cap="none" spc="0">
                                    <a:solidFill>
                                      <a:schemeClr val="bg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parent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it-IT" sz="1200" u="none" strike="noStrike" cap="none" spc="0">
                                <a:solidFill>
                                  <a:schemeClr val="bg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  </m:t>
                            </m:r>
                            <m:sSub>
                              <m:sSubPr>
                                <m:ctrlPr>
                                  <a:rPr lang="it-IT" sz="1200" u="none" strike="noStrike" cap="none" spc="0">
                                    <a:solidFill>
                                      <a:schemeClr val="bg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it-IT" sz="1200" u="none" strike="noStrike" cap="none" spc="0">
                                    <a:solidFill>
                                      <a:schemeClr val="bg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kPub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it-IT" sz="1200" u="none" strike="noStrike" cap="none" spc="0">
                                    <a:solidFill>
                                      <a:schemeClr val="bg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parent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it-IT" sz="1200" u="none" strike="noStrike" cap="none" spc="0">
                                <a:solidFill>
                                  <a:schemeClr val="bg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+i</m:t>
                            </m:r>
                          </m:e>
                        </m:d>
                      </m:oMath>
                    </m:oMathPara>
                  </a14:m>
                </mc:Choice>
                <mc:Fallback/>
              </mc:AlternateContent>
              <a:endParaRPr lang="it-IT" sz="1200" u="none" strike="noStrike" cap="none" spc="0">
                <a:solidFill>
                  <a:schemeClr val="bg1"/>
                </a:solidFill>
                <a:latin typeface="Cambria Math"/>
                <a:ea typeface="Cambria Math"/>
                <a:cs typeface="Cambria Math"/>
              </a:endParaRPr>
            </a:p>
          </p:txBody>
        </p:sp>
      </p:grpSp>
      <p:pic>
        <p:nvPicPr>
          <p:cNvPr id="1862295948" name="Google Shape;154;p16" descr="image.png"/>
          <p:cNvPicPr/>
          <p:nvPr/>
        </p:nvPicPr>
        <p:blipFill rotWithShape="1">
          <a:blip r:embed="rId5">
            <a:alphaModFix/>
          </a:blip>
          <a:srcRect l="0" t="0" r="0" b="0"/>
          <a:stretch/>
        </p:blipFill>
        <p:spPr bwMode="auto">
          <a:xfrm>
            <a:off x="6488183" y="1915662"/>
            <a:ext cx="5476874" cy="2986085"/>
          </a:xfrm>
          <a:prstGeom prst="rect">
            <a:avLst/>
          </a:prstGeom>
          <a:noFill/>
          <a:ln>
            <a:noFill/>
          </a:ln>
        </p:spPr>
      </p:pic>
      <p:sp>
        <p:nvSpPr>
          <p:cNvPr id="651675013" name="Google Shape;163;p16"/>
          <p:cNvSpPr txBox="1"/>
          <p:nvPr/>
        </p:nvSpPr>
        <p:spPr bwMode="auto">
          <a:xfrm>
            <a:off x="6732809" y="2085146"/>
            <a:ext cx="5261814" cy="22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it-IT" sz="1500" b="0" i="0" u="none" strike="noStrike" cap="none">
                <a:solidFill>
                  <a:srgbClr val="F7931A"/>
                </a:solidFill>
                <a:latin typeface="Poppins SemiBold"/>
                <a:ea typeface="Poppins SemiBold"/>
                <a:cs typeface="Poppins SemiBold"/>
              </a:rPr>
              <a:t>Hardened </a:t>
            </a:r>
            <a:r>
              <a:rPr lang="en-US" sz="1500" b="0" i="0" u="none" strike="noStrike" cap="none">
                <a:solidFill>
                  <a:srgbClr val="F7931A"/>
                </a:solidFill>
                <a:latin typeface="Poppins SemiBold"/>
                <a:ea typeface="Poppins SemiBold"/>
                <a:cs typeface="Poppins SemiBold"/>
              </a:rPr>
              <a:t>Derivation</a:t>
            </a:r>
            <a:endParaRPr/>
          </a:p>
        </p:txBody>
      </p:sp>
      <p:sp>
        <p:nvSpPr>
          <p:cNvPr id="639452887" name="Google Shape;164;p16"/>
          <p:cNvSpPr txBox="1"/>
          <p:nvPr/>
        </p:nvSpPr>
        <p:spPr bwMode="auto">
          <a:xfrm>
            <a:off x="6696448" y="3953993"/>
            <a:ext cx="5205462" cy="5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defRPr/>
            </a:pPr>
            <a:r>
              <a:rPr sz="1200" b="0" i="0" u="none">
                <a:solidFill>
                  <a:srgbClr val="728094"/>
                </a:solidFill>
                <a:latin typeface="Adwaita Sans"/>
                <a:ea typeface="Adwaita Sans"/>
                <a:cs typeface="Adwaita Sans"/>
              </a:rPr>
              <a:t>Si usa obbligatoriamente la chiave </a:t>
            </a:r>
            <a:r>
              <a:rPr sz="1200" b="1" i="0" u="none">
                <a:solidFill>
                  <a:srgbClr val="728094"/>
                </a:solidFill>
                <a:latin typeface="Adwaita Sans"/>
                <a:ea typeface="Adwaita Sans"/>
                <a:cs typeface="Adwaita Sans"/>
              </a:rPr>
              <a:t>privata</a:t>
            </a:r>
            <a:r>
              <a:rPr sz="1200" b="0" i="0" u="none">
                <a:solidFill>
                  <a:srgbClr val="728094"/>
                </a:solidFill>
                <a:latin typeface="Adwaita Sans"/>
                <a:ea typeface="Adwaita Sans"/>
                <a:cs typeface="Adwaita Sans"/>
              </a:rPr>
              <a:t> del genitore; </a:t>
            </a:r>
            <a:r>
              <a:rPr sz="1200" b="0" i="0" u="none">
                <a:solidFill>
                  <a:srgbClr val="728094"/>
                </a:solidFill>
                <a:latin typeface="Adwaita Sans"/>
                <a:ea typeface="Adwaita Sans"/>
                <a:cs typeface="Adwaita Sans"/>
              </a:rPr>
              <a:t>Se un figlio viene compromesso, è matematicamente garantito che non potrà mai esporre il genitore o i "fratelli".</a:t>
            </a:r>
            <a:endParaRPr>
              <a:solidFill>
                <a:srgbClr val="728094"/>
              </a:solidFill>
              <a:latin typeface="Adwaita Sans"/>
              <a:cs typeface="Adwaita Sans"/>
            </a:endParaRPr>
          </a:p>
        </p:txBody>
      </p:sp>
      <p:sp>
        <p:nvSpPr>
          <p:cNvPr id="420817809" name="Google Shape;165;p16"/>
          <p:cNvSpPr/>
          <p:nvPr/>
        </p:nvSpPr>
        <p:spPr bwMode="auto">
          <a:xfrm>
            <a:off x="6752250" y="3685209"/>
            <a:ext cx="5000625" cy="19049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3" tIns="45699" rIns="91423" bIns="45699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06005409" name="Google Shape;164;p16"/>
          <p:cNvSpPr txBox="1"/>
          <p:nvPr/>
        </p:nvSpPr>
        <p:spPr bwMode="auto">
          <a:xfrm>
            <a:off x="6732809" y="2493540"/>
            <a:ext cx="5120863" cy="956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1200">
                <a:solidFill>
                  <a:schemeClr val="bg1"/>
                </a:solidFill>
                <a:latin typeface="Adwaita Sans"/>
                <a:ea typeface="Adwaita Sans"/>
                <a:cs typeface="Adwaita Sans"/>
              </a:rPr>
              <a:t>La derivazione dei figlio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d>
                        <m:dPr>
                          <m:begChr m:val="("/>
                          <m:endChr m:val=")"/>
                          <m:ctrlPr>
                            <a:rPr lang="it-IT" sz="1200" u="none" strike="noStrike" cap="none" spc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it-IT" sz="1200" u="none" strike="noStrike" cap="none" spc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i≥</m:t>
                          </m:r>
                          <m:sSup>
                            <m:sSupPr>
                              <m:ctrlPr>
                                <a:rPr lang="it-IT" sz="1200" u="none" strike="noStrike" cap="none" spc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it-IT" sz="1200" u="none" strike="noStrike" cap="none" spc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it-IT" sz="1200" u="none" strike="noStrike" cap="none" spc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</mc:Choice>
              <mc:Fallback/>
            </mc:AlternateContent>
            <a:r>
              <a:rPr sz="1200">
                <a:solidFill>
                  <a:schemeClr val="bg1"/>
                </a:solidFill>
                <a:latin typeface="Adwaita Sans"/>
                <a:ea typeface="Adwaita Sans"/>
                <a:cs typeface="Adwaita Sans"/>
              </a:rPr>
              <a:t>:</a:t>
            </a:r>
            <a:endParaRPr sz="1200">
              <a:solidFill>
                <a:schemeClr val="bg1"/>
              </a:solidFill>
              <a:latin typeface="Adwaita Sans"/>
              <a:ea typeface="Adwaita Sans"/>
              <a:cs typeface="Adwaita San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it-IT" sz="1200" u="none" strike="noStrike" cap="none" spc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it-IT" sz="1200" u="none" strike="noStrike" cap="none" spc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it-IT" sz="1200" u="none" strike="noStrike" cap="none" spc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it-IT" sz="1200" u="none" strike="noStrike" cap="none" spc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 </m:t>
                      </m:r>
                      <m:sSub>
                        <m:sSubPr>
                          <m:ctrlPr>
                            <a:rPr lang="it-IT" sz="1200" u="none" strike="noStrike" cap="none" spc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it-IT" sz="1200" u="none" strike="noStrike" cap="none" spc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it-IT" sz="1200" u="none" strike="noStrike" cap="none" spc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it-IT" sz="1200" u="none" strike="noStrike" cap="none" spc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=HMAC-SHA512</m:t>
                      </m:r>
                      <m:d>
                        <m:dPr>
                          <m:begChr m:val="("/>
                          <m:endChr m:val=")"/>
                          <m:ctrlPr>
                            <a:rPr lang="it-IT" sz="1200" u="none" strike="noStrike" cap="none" spc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sz="1200" u="none" strike="noStrike" cap="none" spc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it-IT" sz="1200" u="none" strike="noStrike" cap="none" spc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it-IT" sz="1200" u="none" strike="noStrike" cap="none" spc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parent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it-IT" sz="1200" u="none" strike="noStrike" cap="none" spc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 0x00+</m:t>
                          </m:r>
                          <m:sSub>
                            <m:sSubPr>
                              <m:ctrlPr>
                                <a:rPr lang="it-IT" sz="1200" u="none" strike="noStrike" cap="none" spc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it-IT" sz="1200" u="none" strike="noStrike" cap="none" spc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it-IT" sz="1200" u="none" strike="noStrike" cap="none" spc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parent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it-IT" sz="1200" u="none" strike="noStrike" cap="none" spc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+i</m:t>
                          </m:r>
                        </m:e>
                      </m:d>
                    </m:oMath>
                  </m:oMathPara>
                </a14:m>
              </mc:Choice>
              <mc:Fallback/>
            </mc:AlternateContent>
            <a:endParaRPr sz="1200">
              <a:solidFill>
                <a:schemeClr val="bg1"/>
              </a:solidFill>
              <a:latin typeface="Adwaita Sans"/>
              <a:cs typeface="Adwaita San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it-IT" sz="1200" u="none" strike="noStrike" cap="none" spc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it-IT" sz="1200" u="none" strike="noStrike" cap="none" spc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it-IT" sz="1200" u="none" strike="noStrike" cap="none" spc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it-IT" sz="1200" u="none" strike="noStrike" cap="none" spc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endChr m:val=")"/>
                          <m:ctrlPr>
                            <a:rPr lang="it-IT" sz="1200" u="none" strike="noStrike" cap="none" spc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sz="1200" u="none" strike="noStrike" cap="none" spc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it-IT" sz="1200" u="none" strike="noStrike" cap="none" spc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it-IT" sz="1200" u="none" strike="noStrike" cap="none" spc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it-IT" sz="1200" u="none" strike="noStrike" cap="none" spc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it-IT" sz="1200" u="none" strike="noStrike" cap="none" spc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it-IT" sz="1200" u="none" strike="noStrike" cap="none" spc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it-IT" sz="1200" u="none" strike="noStrike" cap="none" spc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parent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it-IT" sz="1200" u="none" strike="noStrike" cap="none" spc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mod n,                     </m:t>
                      </m:r>
                      <m:sSub>
                        <m:sSubPr>
                          <m:ctrlPr>
                            <a:rPr lang="it-IT" sz="1200" u="none" strike="noStrike" cap="none" spc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it-IT" sz="1200" u="none" strike="noStrike" cap="none" spc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it-IT" sz="1200" u="none" strike="noStrike" cap="none" spc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it-IT" sz="1200" u="none" strike="noStrike" cap="none" spc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it-IT" sz="1200" u="none" strike="noStrike" cap="none" spc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it-IT" sz="1200" u="none" strike="noStrike" cap="none" spc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it-IT" sz="1200" u="none" strike="noStrike" cap="none" spc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endParaRPr sz="1200">
              <a:solidFill>
                <a:schemeClr val="bg1"/>
              </a:solidFill>
              <a:latin typeface="Adwaita Sans"/>
              <a:cs typeface="Adwaita Sans"/>
            </a:endParaRPr>
          </a:p>
        </p:txBody>
      </p:sp>
      <p:sp>
        <p:nvSpPr>
          <p:cNvPr id="2050967903" name=""/>
          <p:cNvSpPr/>
          <p:nvPr/>
        </p:nvSpPr>
        <p:spPr bwMode="auto">
          <a:xfrm flipH="0" flipV="0">
            <a:off x="1451595" y="3276419"/>
            <a:ext cx="3190816" cy="61758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it-IT" sz="1200" u="none" strike="noStrike" cap="none" spc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it-IT" sz="1200" u="none" strike="noStrike" cap="none" spc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it-IT" sz="1200" u="none" strike="noStrike" cap="none" spc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it-IT" sz="1200" u="none" strike="noStrike" cap="none" spc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endChr m:val=")"/>
                          <m:ctrlPr>
                            <a:rPr lang="it-IT" sz="1200" u="none" strike="noStrike" cap="none" spc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sz="1200" u="none" strike="noStrike" cap="none" spc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it-IT" sz="1200" u="none" strike="noStrike" cap="none" spc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it-IT" sz="1200" u="none" strike="noStrike" cap="none" spc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it-IT" sz="1200" u="none" strike="noStrike" cap="none" spc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it-IT" sz="1200" u="none" strike="noStrike" cap="none" spc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it-IT" sz="1200" u="none" strike="noStrike" cap="none" spc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it-IT" sz="1200" u="none" strike="noStrike" cap="none" spc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parent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it-IT" sz="1200" u="none" strike="noStrike" cap="none" spc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mod n,                     </m:t>
                      </m:r>
                      <m:sSub>
                        <m:sSubPr>
                          <m:ctrlPr>
                            <a:rPr lang="it-IT" sz="1200" u="none" strike="noStrike" cap="none" spc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it-IT" sz="1200" u="none" strike="noStrike" cap="none" spc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it-IT" sz="1200" u="none" strike="noStrike" cap="none" spc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it-IT" sz="1200" u="none" strike="noStrike" cap="none" spc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it-IT" sz="1200" u="none" strike="noStrike" cap="none" spc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it-IT" sz="1200" u="none" strike="noStrike" cap="none" spc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it-IT" sz="1200" u="none" strike="noStrike" cap="none" spc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endParaRPr sz="1200">
              <a:solidFill>
                <a:schemeClr val="bg1"/>
              </a:solidFill>
              <a:latin typeface="Adwaita Sans"/>
              <a:cs typeface="Adwaita Sans"/>
            </a:endParaRPr>
          </a:p>
          <a:p>
            <a:pPr algn="ctr">
              <a:defRPr/>
            </a:pPr>
            <a:endParaRPr>
              <a:latin typeface="Cambria Math"/>
              <a:ea typeface="Cambria Math"/>
              <a:cs typeface="Cambria Math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56271216" name="Google Shape;152;p16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46176015" name="Google Shape;155;p16"/>
          <p:cNvSpPr txBox="1"/>
          <p:nvPr/>
        </p:nvSpPr>
        <p:spPr bwMode="auto">
          <a:xfrm>
            <a:off x="885825" y="466725"/>
            <a:ext cx="11306174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Derivazione HD: BIP-32 &amp; BIP-44</a:t>
            </a:r>
            <a:endParaRPr/>
          </a:p>
        </p:txBody>
      </p:sp>
      <p:pic>
        <p:nvPicPr>
          <p:cNvPr id="1710188944" name="Google Shape;157;p16" descr="image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466725" y="576262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4120465" name="Google Shape;122;p15" descr="image.png"/>
          <p:cNvPicPr/>
          <p:nvPr/>
        </p:nvPicPr>
        <p:blipFill rotWithShape="1">
          <a:blip r:embed="rId5">
            <a:alphaModFix/>
          </a:blip>
          <a:srcRect l="0" t="0" r="0" b="0"/>
          <a:stretch/>
        </p:blipFill>
        <p:spPr bwMode="auto">
          <a:xfrm rot="0" flipH="0" flipV="0">
            <a:off x="1735096" y="1042943"/>
            <a:ext cx="8041026" cy="1125406"/>
          </a:xfrm>
          <a:prstGeom prst="rect">
            <a:avLst/>
          </a:prstGeom>
          <a:noFill/>
          <a:ln>
            <a:noFill/>
          </a:ln>
        </p:spPr>
      </p:pic>
      <p:sp>
        <p:nvSpPr>
          <p:cNvPr id="1494606980" name="Google Shape;131;p15"/>
          <p:cNvSpPr txBox="1"/>
          <p:nvPr/>
        </p:nvSpPr>
        <p:spPr bwMode="auto">
          <a:xfrm rot="0" flipH="0" flipV="0">
            <a:off x="1871426" y="1197050"/>
            <a:ext cx="7905462" cy="96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it-IT" sz="1400" b="1" i="0" u="none" strike="noStrike" cap="none" spc="0">
                <a:solidFill>
                  <a:schemeClr val="bg1"/>
                </a:solidFill>
                <a:latin typeface="Adwaita Sans"/>
                <a:ea typeface="Adwaita Sans"/>
                <a:cs typeface="Adwaita Sans"/>
              </a:rPr>
              <a:t>BIP-44</a:t>
            </a:r>
            <a:r>
              <a:rPr lang="en-US" sz="1400" b="1" i="0" u="none" strike="noStrike" cap="none" spc="0">
                <a:solidFill>
                  <a:schemeClr val="bg1"/>
                </a:solidFill>
                <a:latin typeface="Adwaita Sans"/>
                <a:ea typeface="Adwaita Sans"/>
                <a:cs typeface="Adwaita Sans"/>
              </a:rPr>
              <a:t>:</a:t>
            </a:r>
            <a:r>
              <a:rPr lang="it-IT" sz="1400" b="1" i="0" u="none" strike="noStrike" cap="none" spc="0">
                <a:solidFill>
                  <a:schemeClr val="bg1"/>
                </a:solidFill>
                <a:latin typeface="Adwaita Sans"/>
                <a:ea typeface="Adwaita Sans"/>
                <a:cs typeface="Adwaita Sans"/>
              </a:rPr>
              <a:t> </a:t>
            </a:r>
            <a:r>
              <a:rPr sz="1400" b="0" i="0" u="none">
                <a:solidFill>
                  <a:schemeClr val="bg1"/>
                </a:solidFill>
                <a:latin typeface="Adwaita Sans"/>
                <a:ea typeface="Adwaita Sans"/>
                <a:cs typeface="Adwaita Sans"/>
              </a:rPr>
              <a:t>Definisce una </a:t>
            </a:r>
            <a:r>
              <a:rPr sz="1400" b="1" i="0" u="none">
                <a:solidFill>
                  <a:schemeClr val="bg1"/>
                </a:solidFill>
                <a:latin typeface="Adwaita Sans"/>
                <a:ea typeface="Adwaita Sans"/>
                <a:cs typeface="Adwaita Sans"/>
              </a:rPr>
              <a:t>struttura ad albero universale e ordinata</a:t>
            </a:r>
            <a:r>
              <a:rPr sz="1400" b="0" i="0" u="none">
                <a:solidFill>
                  <a:schemeClr val="bg1"/>
                </a:solidFill>
                <a:latin typeface="Adwaita Sans"/>
                <a:ea typeface="Adwaita Sans"/>
                <a:cs typeface="Adwaita Sans"/>
              </a:rPr>
              <a:t> per organizzare le chiavi e gli indirizzi generati con BIP32, rendendo un singolo wallet compatibile con più criptovalute e account diversi.</a:t>
            </a:r>
            <a:endParaRPr sz="1400" b="0">
              <a:solidFill>
                <a:schemeClr val="bg1"/>
              </a:solidFill>
            </a:endParaRPr>
          </a:p>
        </p:txBody>
      </p:sp>
      <p:sp>
        <p:nvSpPr>
          <p:cNvPr id="94762401" name="Google Shape;158;p16"/>
          <p:cNvSpPr txBox="1"/>
          <p:nvPr/>
        </p:nvSpPr>
        <p:spPr bwMode="auto">
          <a:xfrm>
            <a:off x="284085" y="2471050"/>
            <a:ext cx="5751437" cy="213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</a:rPr>
              <a:t>Struttura Derivation </a:t>
            </a:r>
            <a:r>
              <a:rPr lang="en-US" sz="1400" b="1" i="0" u="none" strike="noStrike" cap="none">
                <a:solidFill>
                  <a:srgbClr val="37BAF5"/>
                </a:solidFill>
                <a:latin typeface="Poppins"/>
                <a:ea typeface="Poppins"/>
                <a:cs typeface="Poppins"/>
              </a:rPr>
              <a:t>Path</a:t>
            </a:r>
            <a:endParaRPr/>
          </a:p>
        </p:txBody>
      </p:sp>
      <p:sp>
        <p:nvSpPr>
          <p:cNvPr id="115996105" name=""/>
          <p:cNvSpPr txBox="1"/>
          <p:nvPr/>
        </p:nvSpPr>
        <p:spPr bwMode="auto">
          <a:xfrm rot="0" flipH="0" flipV="0">
            <a:off x="284085" y="3658221"/>
            <a:ext cx="11653010" cy="19206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39821" marR="0" indent="-239821" algn="l" defTabSz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Wingdings"/>
              <a:buChar char="ü"/>
              <a:defRPr/>
            </a:pPr>
            <a:r>
              <a:rPr lang="it-IT" sz="1200" b="1" strike="noStrike" cap="none" spc="0">
                <a:solidFill>
                  <a:schemeClr val="bg1"/>
                </a:solidFill>
                <a:latin typeface="Adwaita Sans"/>
                <a:ea typeface="Adwaita Sans"/>
                <a:cs typeface="Adwaita Sans"/>
              </a:rPr>
              <a:t>Purpose:</a:t>
            </a:r>
            <a:r>
              <a:rPr lang="it-IT" sz="1200" strike="noStrike" cap="none" spc="0">
                <a:solidFill>
                  <a:schemeClr val="bg1"/>
                </a:solidFill>
                <a:latin typeface="Adwaita Sans"/>
                <a:ea typeface="Adwaita Sans"/>
                <a:cs typeface="Adwaita Sans"/>
              </a:rPr>
              <a:t> </a:t>
            </a:r>
            <a:r>
              <a:rPr sz="1200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44’ indica che il wallet segue BIP-44</a:t>
            </a:r>
            <a:r>
              <a:rPr sz="1200" b="0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.</a:t>
            </a:r>
            <a:endParaRPr sz="1200" b="0" strike="noStrike" cap="none" spc="0">
              <a:solidFill>
                <a:schemeClr val="bg1"/>
              </a:solidFill>
              <a:latin typeface="Adwaita Sans"/>
              <a:cs typeface="Adwaita Sans"/>
            </a:endParaRPr>
          </a:p>
          <a:p>
            <a:pPr marL="239821" marR="0" indent="-239821" algn="l" defTabSz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Wingdings"/>
              <a:buChar char="ü"/>
              <a:defRPr/>
            </a:pPr>
            <a:r>
              <a:rPr sz="1200" b="1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Coin Type:</a:t>
            </a:r>
            <a:r>
              <a:rPr sz="1200" b="0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 Specifica la criptovaluta (0’ per Bitcoin, 1’ per Testnet). Viene usato anche da criptovalute diverse, ad esempio 60’ per Ethereum.</a:t>
            </a:r>
            <a:endParaRPr sz="1200" b="0" strike="noStrike" cap="none" spc="0">
              <a:solidFill>
                <a:schemeClr val="bg1"/>
              </a:solidFill>
              <a:latin typeface="Adwaita Sans"/>
              <a:cs typeface="Adwaita Sans"/>
            </a:endParaRPr>
          </a:p>
          <a:p>
            <a:pPr marL="239821" marR="0" indent="-239821" algn="l" defTabSz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Wingdings"/>
              <a:buChar char="ü"/>
              <a:defRPr/>
            </a:pPr>
            <a:r>
              <a:rPr sz="1200" b="1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Account: </a:t>
            </a:r>
            <a:r>
              <a:rPr sz="1200" b="0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Permette di definire più account, dividendo i fondi in conti logici (lavoro, personale, etc...).</a:t>
            </a:r>
            <a:endParaRPr sz="1200" b="0" strike="noStrike" cap="none" spc="0">
              <a:solidFill>
                <a:schemeClr val="bg1"/>
              </a:solidFill>
              <a:latin typeface="Adwaita Sans"/>
              <a:cs typeface="Adwaita Sans"/>
            </a:endParaRPr>
          </a:p>
          <a:p>
            <a:pPr marL="239821" marR="0" indent="-239821" algn="l" defTabSz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Wingdings"/>
              <a:buChar char="ü"/>
              <a:defRPr/>
            </a:pPr>
            <a:r>
              <a:rPr sz="1200" b="1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Change: </a:t>
            </a:r>
            <a:r>
              <a:rPr sz="1200" b="0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Permette di dividere gli indirizzi in </a:t>
            </a:r>
            <a:r>
              <a:rPr sz="1200" b="0" i="1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indirizzi di ricezione (external chain, </a:t>
            </a:r>
            <a:r>
              <a:rPr sz="1200" b="1" i="1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0</a:t>
            </a:r>
            <a:r>
              <a:rPr sz="1200" b="0" i="1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)</a:t>
            </a:r>
            <a:r>
              <a:rPr sz="1200" b="0" i="0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 e</a:t>
            </a:r>
            <a:r>
              <a:rPr sz="1200" b="0" i="0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 </a:t>
            </a:r>
            <a:r>
              <a:rPr sz="1200" b="0" i="1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indirizzi di resto (internal chain, </a:t>
            </a:r>
            <a:r>
              <a:rPr sz="1200" b="0" i="1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1)</a:t>
            </a:r>
            <a:r>
              <a:rPr sz="1200" b="0" i="0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.</a:t>
            </a:r>
            <a:endParaRPr sz="1200" b="0" i="0" strike="noStrike" cap="none" spc="0">
              <a:solidFill>
                <a:schemeClr val="bg1"/>
              </a:solidFill>
              <a:latin typeface="Adwaita Sans"/>
              <a:cs typeface="Adwaita Sans"/>
            </a:endParaRPr>
          </a:p>
          <a:p>
            <a:pPr marL="239821" marR="0" indent="-239821" algn="l" defTabSz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Wingdings"/>
              <a:buChar char="ü"/>
              <a:defRPr/>
            </a:pPr>
            <a:r>
              <a:rPr sz="1200" b="1" i="0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Address Index:</a:t>
            </a:r>
            <a:r>
              <a:rPr sz="1200" b="0" i="0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 Gli indirizzi sono numerazi sequenzialmente a partire da 0, incrementando di volta in volta.</a:t>
            </a:r>
            <a:endParaRPr sz="1200" b="0" i="0" strike="noStrike" cap="none" spc="0">
              <a:solidFill>
                <a:schemeClr val="bg1"/>
              </a:solidFill>
              <a:latin typeface="Adwaita Sans"/>
              <a:cs typeface="Adwaita Sans"/>
            </a:endParaRPr>
          </a:p>
        </p:txBody>
      </p:sp>
      <p:sp>
        <p:nvSpPr>
          <p:cNvPr id="1100725031" name=""/>
          <p:cNvSpPr/>
          <p:nvPr/>
        </p:nvSpPr>
        <p:spPr bwMode="auto">
          <a:xfrm rot="0" flipH="0" flipV="0">
            <a:off x="284085" y="2843195"/>
            <a:ext cx="5665901" cy="530257"/>
          </a:xfrm>
          <a:prstGeom prst="flowChartAlternateProcess">
            <a:avLst/>
          </a:prstGeom>
          <a:solidFill>
            <a:srgbClr val="02061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1200">
                <a:solidFill>
                  <a:srgbClr val="298EBF"/>
                </a:solidFill>
                <a:latin typeface="Adwaita Sans"/>
                <a:ea typeface="Adwaita Sans"/>
                <a:cs typeface="Adwaita Sans"/>
              </a:rPr>
              <a:t>m / purpose’ / coin_type’ / account’ / change / address_index</a:t>
            </a:r>
            <a:endParaRPr sz="1200">
              <a:solidFill>
                <a:srgbClr val="298EBF"/>
              </a:solidFill>
              <a:latin typeface="Adwaita Sans"/>
              <a:cs typeface="Adwaita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06326892" name="Google Shape;152;p16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577578" name="Google Shape;155;p16"/>
          <p:cNvSpPr txBox="1"/>
          <p:nvPr/>
        </p:nvSpPr>
        <p:spPr bwMode="auto">
          <a:xfrm>
            <a:off x="885825" y="466724"/>
            <a:ext cx="11306173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Derivazione HD: BIP-32 &amp; BIP-44</a:t>
            </a:r>
            <a:endParaRPr/>
          </a:p>
        </p:txBody>
      </p:sp>
      <p:pic>
        <p:nvPicPr>
          <p:cNvPr id="1941028009" name="Google Shape;157;p16" descr="image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466724" y="576261"/>
            <a:ext cx="304799" cy="266699"/>
          </a:xfrm>
          <a:prstGeom prst="rect">
            <a:avLst/>
          </a:prstGeom>
          <a:noFill/>
          <a:ln>
            <a:noFill/>
          </a:ln>
        </p:spPr>
      </p:pic>
      <p:sp>
        <p:nvSpPr>
          <p:cNvPr id="2053869334" name=""/>
          <p:cNvSpPr txBox="1"/>
          <p:nvPr/>
        </p:nvSpPr>
        <p:spPr bwMode="auto">
          <a:xfrm rot="0" flipH="0" flipV="0">
            <a:off x="4312809" y="1821958"/>
            <a:ext cx="45720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853679828" name=""/>
          <p:cNvSpPr txBox="1"/>
          <p:nvPr/>
        </p:nvSpPr>
        <p:spPr bwMode="auto">
          <a:xfrm rot="0" flipH="0" flipV="0">
            <a:off x="2427448" y="1340798"/>
            <a:ext cx="6186340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pic>
        <p:nvPicPr>
          <p:cNvPr id="1485611345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4620482" y="1046658"/>
            <a:ext cx="6369645" cy="5334900"/>
          </a:xfrm>
          <a:prstGeom prst="rect">
            <a:avLst/>
          </a:prstGeom>
        </p:spPr>
      </p:pic>
      <p:sp>
        <p:nvSpPr>
          <p:cNvPr id="89258998" name=""/>
          <p:cNvSpPr txBox="1"/>
          <p:nvPr/>
        </p:nvSpPr>
        <p:spPr bwMode="auto">
          <a:xfrm rot="0" flipH="0" flipV="0">
            <a:off x="466723" y="1821956"/>
            <a:ext cx="2451196" cy="1310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it-IT" sz="10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JetBrainsMono NF"/>
                <a:ea typeface="JetBrainsMono NF"/>
                <a:cs typeface="JetBrainsMono NF"/>
              </a:rPr>
              <a:t>type</a:t>
            </a:r>
            <a:r>
              <a:rPr lang="it-IT" sz="10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JetBrainsMono NF"/>
                <a:ea typeface="JetBrainsMono NF"/>
                <a:cs typeface="JetBrainsMono NF"/>
              </a:rPr>
              <a:t> </a:t>
            </a:r>
            <a:r>
              <a:rPr lang="it-IT" sz="10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ExtendedKey </a:t>
            </a:r>
            <a:r>
              <a:rPr lang="it-IT" sz="10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JetBrainsMono NF"/>
                <a:ea typeface="JetBrainsMono NF"/>
                <a:cs typeface="JetBrainsMono NF"/>
              </a:rPr>
              <a:t>struct</a:t>
            </a:r>
            <a:r>
              <a:rPr lang="it-IT" sz="10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JetBrainsMono NF"/>
                <a:ea typeface="JetBrainsMono NF"/>
                <a:cs typeface="JetBrainsMono NF"/>
              </a:rPr>
              <a:t> </a:t>
            </a:r>
            <a:r>
              <a:rPr lang="it-IT" sz="10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{</a:t>
            </a:r>
            <a:endParaRPr sz="1000" b="0" i="0" u="none" strike="noStrike" cap="none" spc="0">
              <a:solidFill>
                <a:schemeClr val="bg1"/>
              </a:solidFill>
              <a:latin typeface="JetBrainsMono NF"/>
              <a:cs typeface="JetBrainsMono NF"/>
            </a:endParaRPr>
          </a:p>
          <a:p>
            <a:pPr>
              <a:defRPr/>
            </a:pPr>
            <a:r>
              <a:rPr lang="it-IT" sz="10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    </a:t>
            </a:r>
            <a:r>
              <a:rPr lang="it-IT" sz="1000" b="0" i="0" u="none" strike="noStrike" cap="none" spc="0">
                <a:solidFill>
                  <a:srgbClr val="37BAF5"/>
                </a:solidFill>
                <a:latin typeface="JetBrainsMono NF"/>
                <a:ea typeface="JetBrainsMono NF"/>
                <a:cs typeface="JetBrainsMono NF"/>
              </a:rPr>
              <a:t>Key  </a:t>
            </a:r>
            <a:r>
              <a:rPr lang="it-IT" sz="10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       [</a:t>
            </a:r>
            <a:r>
              <a:rPr lang="it-IT" sz="1000" b="0" i="0" u="none" strike="noStrike" cap="none" spc="0">
                <a:solidFill>
                  <a:srgbClr val="37BAF5"/>
                </a:solidFill>
                <a:latin typeface="JetBrainsMono NF"/>
                <a:ea typeface="JetBrainsMono NF"/>
                <a:cs typeface="JetBrainsMono NF"/>
              </a:rPr>
              <a:t>32</a:t>
            </a:r>
            <a:r>
              <a:rPr lang="it-IT" sz="10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]byte</a:t>
            </a:r>
            <a:endParaRPr sz="1000" b="0" i="0" u="none" strike="noStrike" cap="none" spc="0">
              <a:solidFill>
                <a:schemeClr val="bg1"/>
              </a:solidFill>
              <a:latin typeface="JetBrainsMono NF"/>
              <a:cs typeface="JetBrainsMono NF"/>
            </a:endParaRPr>
          </a:p>
          <a:p>
            <a:pPr>
              <a:defRPr/>
            </a:pPr>
            <a:r>
              <a:rPr lang="it-IT" sz="10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    </a:t>
            </a:r>
            <a:r>
              <a:rPr lang="it-IT" sz="1000" b="0" i="0" u="none" strike="noStrike" cap="none" spc="0">
                <a:solidFill>
                  <a:srgbClr val="33ABE1"/>
                </a:solidFill>
                <a:latin typeface="JetBrainsMono NF"/>
                <a:ea typeface="JetBrainsMono NF"/>
                <a:cs typeface="JetBrainsMono NF"/>
              </a:rPr>
              <a:t>ChainCode</a:t>
            </a:r>
            <a:r>
              <a:rPr lang="it-IT" sz="1000" b="0" i="0" u="none" strike="noStrike" cap="none" spc="0">
                <a:solidFill>
                  <a:srgbClr val="33ABE1"/>
                </a:solidFill>
                <a:latin typeface="JetBrainsMono NF"/>
                <a:ea typeface="JetBrainsMono NF"/>
                <a:cs typeface="JetBrainsMono NF"/>
              </a:rPr>
              <a:t>   </a:t>
            </a:r>
            <a:r>
              <a:rPr lang="it-IT" sz="10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[</a:t>
            </a:r>
            <a:r>
              <a:rPr lang="it-IT" sz="1000" b="0" i="0" u="none" strike="noStrike" cap="none" spc="0">
                <a:solidFill>
                  <a:srgbClr val="37BAF5"/>
                </a:solidFill>
                <a:latin typeface="JetBrainsMono NF"/>
                <a:ea typeface="JetBrainsMono NF"/>
                <a:cs typeface="JetBrainsMono NF"/>
              </a:rPr>
              <a:t>32</a:t>
            </a:r>
            <a:r>
              <a:rPr lang="it-IT" sz="10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]byte</a:t>
            </a:r>
            <a:endParaRPr sz="1000" b="0" i="0" u="none" strike="noStrike" cap="none" spc="0">
              <a:solidFill>
                <a:schemeClr val="bg1"/>
              </a:solidFill>
              <a:latin typeface="JetBrainsMono NF"/>
              <a:cs typeface="JetBrainsMono NF"/>
            </a:endParaRPr>
          </a:p>
          <a:p>
            <a:pPr>
              <a:defRPr/>
            </a:pPr>
            <a:r>
              <a:rPr lang="it-IT" sz="10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    </a:t>
            </a:r>
            <a:r>
              <a:rPr lang="it-IT" sz="1000" b="0" i="0" u="none" strike="noStrike" cap="none" spc="0">
                <a:solidFill>
                  <a:srgbClr val="37BAF5"/>
                </a:solidFill>
                <a:latin typeface="JetBrainsMono NF"/>
                <a:ea typeface="JetBrainsMono NF"/>
                <a:cs typeface="JetBrainsMono NF"/>
              </a:rPr>
              <a:t>Depth  </a:t>
            </a:r>
            <a:r>
              <a:rPr lang="it-IT" sz="10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     byte</a:t>
            </a:r>
            <a:endParaRPr sz="1000" b="0" i="0" u="none" strike="noStrike" cap="none" spc="0">
              <a:solidFill>
                <a:schemeClr val="bg1"/>
              </a:solidFill>
              <a:latin typeface="JetBrainsMono NF"/>
              <a:cs typeface="JetBrainsMono NF"/>
            </a:endParaRPr>
          </a:p>
          <a:p>
            <a:pPr>
              <a:defRPr/>
            </a:pPr>
            <a:r>
              <a:rPr lang="it-IT" sz="10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    </a:t>
            </a:r>
            <a:r>
              <a:rPr lang="it-IT" sz="1000" b="0" i="0" u="none" strike="noStrike" cap="none" spc="0">
                <a:solidFill>
                  <a:srgbClr val="37BAF5"/>
                </a:solidFill>
                <a:latin typeface="JetBrainsMono NF"/>
                <a:ea typeface="JetBrainsMono NF"/>
                <a:cs typeface="JetBrainsMono NF"/>
              </a:rPr>
              <a:t>ParentFP </a:t>
            </a:r>
            <a:r>
              <a:rPr lang="it-IT" sz="10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   [</a:t>
            </a:r>
            <a:r>
              <a:rPr lang="it-IT" sz="1000" b="0" i="0" u="none" strike="noStrike" cap="none" spc="0">
                <a:solidFill>
                  <a:srgbClr val="37BAF5"/>
                </a:solidFill>
                <a:latin typeface="JetBrainsMono NF"/>
                <a:ea typeface="JetBrainsMono NF"/>
                <a:cs typeface="JetBrainsMono NF"/>
              </a:rPr>
              <a:t>4</a:t>
            </a:r>
            <a:r>
              <a:rPr lang="it-IT" sz="10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]byte</a:t>
            </a:r>
            <a:endParaRPr sz="1000" b="0" i="0" u="none" strike="noStrike" cap="none" spc="0">
              <a:solidFill>
                <a:schemeClr val="bg1"/>
              </a:solidFill>
              <a:latin typeface="JetBrainsMono NF"/>
              <a:cs typeface="JetBrainsMono NF"/>
            </a:endParaRPr>
          </a:p>
          <a:p>
            <a:pPr>
              <a:defRPr/>
            </a:pPr>
            <a:r>
              <a:rPr lang="it-IT" sz="10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    </a:t>
            </a:r>
            <a:r>
              <a:rPr lang="it-IT" sz="1000" b="0" i="0" u="none" strike="noStrike" cap="none" spc="0">
                <a:solidFill>
                  <a:srgbClr val="37BAF5"/>
                </a:solidFill>
                <a:latin typeface="JetBrainsMono NF"/>
                <a:ea typeface="JetBrainsMono NF"/>
                <a:cs typeface="JetBrainsMono NF"/>
              </a:rPr>
              <a:t>ChildNumber </a:t>
            </a:r>
            <a:r>
              <a:rPr lang="it-IT" sz="10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uint32</a:t>
            </a:r>
            <a:endParaRPr lang="it-IT" sz="1000" b="0" i="0" u="none" strike="noStrike" cap="none" spc="0">
              <a:solidFill>
                <a:schemeClr val="bg1"/>
              </a:solidFill>
              <a:latin typeface="JetBrainsMono NF"/>
              <a:ea typeface="JetBrainsMono NF"/>
              <a:cs typeface="JetBrainsMono NF"/>
            </a:endParaRPr>
          </a:p>
          <a:p>
            <a:pPr>
              <a:defRPr/>
            </a:pPr>
            <a:r>
              <a:rPr lang="it-IT" sz="10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    </a:t>
            </a:r>
            <a:r>
              <a:rPr lang="it-IT" sz="1000" b="0" i="0" u="none" strike="noStrike" cap="none" spc="0">
                <a:solidFill>
                  <a:srgbClr val="37BAF5"/>
                </a:solidFill>
                <a:latin typeface="JetBrainsMono NF"/>
                <a:ea typeface="JetBrainsMono NF"/>
                <a:cs typeface="JetBrainsMono NF"/>
              </a:rPr>
              <a:t>IsPrivate </a:t>
            </a:r>
            <a:r>
              <a:rPr lang="it-IT" sz="10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  bool</a:t>
            </a:r>
            <a:endParaRPr sz="1000" b="0" i="0" u="none" strike="noStrike" cap="none" spc="0">
              <a:solidFill>
                <a:schemeClr val="bg1"/>
              </a:solidFill>
              <a:latin typeface="JetBrainsMono NF"/>
              <a:cs typeface="JetBrainsMono NF"/>
            </a:endParaRPr>
          </a:p>
          <a:p>
            <a:pPr>
              <a:defRPr/>
            </a:pPr>
            <a:r>
              <a:rPr lang="it-IT" sz="10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}</a:t>
            </a:r>
            <a:endParaRPr sz="1000">
              <a:solidFill>
                <a:schemeClr val="bg1"/>
              </a:solidFill>
              <a:latin typeface="JetBrainsMono NF"/>
              <a:cs typeface="JetBrainsMono NF"/>
            </a:endParaRPr>
          </a:p>
        </p:txBody>
      </p:sp>
      <p:pic>
        <p:nvPicPr>
          <p:cNvPr id="2002789341" name="Google Shape;122;p15" descr="image.png"/>
          <p:cNvPicPr/>
          <p:nvPr/>
        </p:nvPicPr>
        <p:blipFill rotWithShape="1">
          <a:blip r:embed="rId6">
            <a:alphaModFix/>
          </a:blip>
          <a:srcRect l="0" t="0" r="0" b="0"/>
          <a:stretch/>
        </p:blipFill>
        <p:spPr bwMode="auto">
          <a:xfrm rot="0" flipH="0" flipV="0">
            <a:off x="466724" y="1232782"/>
            <a:ext cx="3208530" cy="353503"/>
          </a:xfrm>
          <a:prstGeom prst="rect">
            <a:avLst/>
          </a:prstGeom>
          <a:noFill/>
          <a:ln>
            <a:noFill/>
          </a:ln>
        </p:spPr>
      </p:pic>
      <p:sp>
        <p:nvSpPr>
          <p:cNvPr id="1710531666" name="Google Shape;131;p15"/>
          <p:cNvSpPr txBox="1"/>
          <p:nvPr/>
        </p:nvSpPr>
        <p:spPr bwMode="auto">
          <a:xfrm rot="0" flipH="0" flipV="0">
            <a:off x="771524" y="1298708"/>
            <a:ext cx="2903730" cy="27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1200" b="0">
                <a:solidFill>
                  <a:schemeClr val="bg1"/>
                </a:solidFill>
              </a:rPr>
              <a:t>Ogni nodo dell’albero è una ExtendedKey</a:t>
            </a:r>
            <a:endParaRPr sz="1200" b="0">
              <a:solidFill>
                <a:schemeClr val="bg1"/>
              </a:solidFill>
            </a:endParaRPr>
          </a:p>
        </p:txBody>
      </p:sp>
      <p:pic>
        <p:nvPicPr>
          <p:cNvPr id="1223515219" name="Google Shape;239;p19" descr="image.png"/>
          <p:cNvPicPr/>
          <p:nvPr/>
        </p:nvPicPr>
        <p:blipFill rotWithShape="1">
          <a:blip r:embed="rId7">
            <a:alphaModFix/>
          </a:blip>
          <a:srcRect l="0" t="0" r="0" b="0"/>
          <a:stretch/>
        </p:blipFill>
        <p:spPr bwMode="auto">
          <a:xfrm>
            <a:off x="566427" y="1302878"/>
            <a:ext cx="171450" cy="190499"/>
          </a:xfrm>
          <a:prstGeom prst="rect">
            <a:avLst/>
          </a:prstGeom>
          <a:noFill/>
          <a:ln>
            <a:noFill/>
          </a:ln>
        </p:spPr>
      </p:pic>
      <p:sp>
        <p:nvSpPr>
          <p:cNvPr id="1797194393" name=""/>
          <p:cNvSpPr txBox="1"/>
          <p:nvPr/>
        </p:nvSpPr>
        <p:spPr bwMode="auto">
          <a:xfrm rot="0" flipH="0" flipV="0">
            <a:off x="466724" y="4056110"/>
            <a:ext cx="2337467" cy="1310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it-IT" sz="10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JetBrainsMono NF"/>
                <a:ea typeface="JetBrainsMono NF"/>
                <a:cs typeface="JetBrainsMono NF"/>
              </a:rPr>
              <a:t>type </a:t>
            </a:r>
            <a:r>
              <a:rPr lang="it-IT" sz="10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Address </a:t>
            </a:r>
            <a:r>
              <a:rPr lang="it-IT" sz="10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JetBrainsMono NF"/>
                <a:ea typeface="JetBrainsMono NF"/>
                <a:cs typeface="JetBrainsMono NF"/>
              </a:rPr>
              <a:t>struct </a:t>
            </a:r>
            <a:r>
              <a:rPr lang="it-IT" sz="10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{</a:t>
            </a:r>
            <a:endParaRPr lang="it-IT" sz="1000" b="0" i="0" u="none" strike="noStrike" cap="none" spc="0">
              <a:solidFill>
                <a:schemeClr val="bg1"/>
              </a:solidFill>
              <a:latin typeface="JetBrainsMono NF"/>
              <a:cs typeface="JetBrainsMono NF"/>
            </a:endParaRPr>
          </a:p>
          <a:p>
            <a:pPr>
              <a:defRPr/>
            </a:pPr>
            <a:r>
              <a:rPr lang="it-IT" sz="10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    </a:t>
            </a:r>
            <a:r>
              <a:rPr lang="it-IT" sz="1000" b="0" i="0" u="none" strike="noStrike" cap="none" spc="0">
                <a:solidFill>
                  <a:srgbClr val="00B0F0"/>
                </a:solidFill>
                <a:latin typeface="JetBrainsMono NF"/>
                <a:ea typeface="JetBrainsMono NF"/>
                <a:cs typeface="JetBrainsMono NF"/>
              </a:rPr>
              <a:t>SigningKey </a:t>
            </a:r>
            <a:r>
              <a:rPr lang="it-IT" sz="10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[]byte</a:t>
            </a:r>
            <a:endParaRPr lang="it-IT" sz="1000" b="0" i="0" u="none" strike="noStrike" cap="none" spc="0">
              <a:solidFill>
                <a:schemeClr val="bg1"/>
              </a:solidFill>
              <a:latin typeface="JetBrainsMono NF"/>
              <a:cs typeface="JetBrainsMono NF"/>
            </a:endParaRPr>
          </a:p>
          <a:p>
            <a:pPr>
              <a:defRPr/>
            </a:pPr>
            <a:r>
              <a:rPr lang="it-IT" sz="10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    </a:t>
            </a:r>
            <a:r>
              <a:rPr lang="it-IT" sz="1000" b="0" i="0" u="none" strike="noStrike" cap="none" spc="0">
                <a:solidFill>
                  <a:srgbClr val="00B0F0"/>
                </a:solidFill>
                <a:latin typeface="JetBrainsMono NF"/>
                <a:ea typeface="JetBrainsMono NF"/>
                <a:cs typeface="JetBrainsMono NF"/>
              </a:rPr>
              <a:t>PubKeyHash </a:t>
            </a:r>
            <a:r>
              <a:rPr lang="it-IT" sz="10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[]byte   </a:t>
            </a:r>
            <a:endParaRPr lang="it-IT" sz="1000" b="0" i="0" u="none" strike="noStrike" cap="none" spc="0">
              <a:solidFill>
                <a:schemeClr val="bg1"/>
              </a:solidFill>
              <a:latin typeface="JetBrainsMono NF"/>
              <a:cs typeface="JetBrainsMono NF"/>
            </a:endParaRPr>
          </a:p>
          <a:p>
            <a:pPr>
              <a:defRPr/>
            </a:pPr>
            <a:r>
              <a:rPr lang="it-IT" sz="10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    </a:t>
            </a:r>
            <a:r>
              <a:rPr lang="it-IT" sz="1000" b="0" i="0" u="none" strike="noStrike" cap="none" spc="0">
                <a:solidFill>
                  <a:srgbClr val="00B0F0"/>
                </a:solidFill>
                <a:latin typeface="JetBrainsMono NF"/>
                <a:ea typeface="JetBrainsMono NF"/>
                <a:cs typeface="JetBrainsMono NF"/>
              </a:rPr>
              <a:t>Address    </a:t>
            </a:r>
            <a:r>
              <a:rPr lang="it-IT" sz="10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string   </a:t>
            </a:r>
            <a:endParaRPr lang="it-IT" sz="1000" b="0" i="0" u="none" strike="noStrike" cap="none" spc="0">
              <a:solidFill>
                <a:schemeClr val="bg1"/>
              </a:solidFill>
              <a:latin typeface="JetBrainsMono NF"/>
              <a:cs typeface="JetBrainsMono NF"/>
            </a:endParaRPr>
          </a:p>
          <a:p>
            <a:pPr>
              <a:defRPr/>
            </a:pPr>
            <a:r>
              <a:rPr lang="it-IT" sz="10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    </a:t>
            </a:r>
            <a:r>
              <a:rPr lang="it-IT" sz="1000" b="0" i="0" u="none" strike="noStrike" cap="none" spc="0">
                <a:solidFill>
                  <a:srgbClr val="00B0F0"/>
                </a:solidFill>
                <a:latin typeface="JetBrainsMono NF"/>
                <a:ea typeface="JetBrainsMono NF"/>
                <a:cs typeface="JetBrainsMono NF"/>
              </a:rPr>
              <a:t>Legacy     </a:t>
            </a:r>
            <a:r>
              <a:rPr lang="it-IT" sz="10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bool     </a:t>
            </a:r>
            <a:endParaRPr lang="it-IT" sz="1000" b="0" i="0" u="none" strike="noStrike" cap="none" spc="0">
              <a:solidFill>
                <a:schemeClr val="bg1"/>
              </a:solidFill>
              <a:latin typeface="JetBrainsMono NF"/>
              <a:cs typeface="JetBrainsMono NF"/>
            </a:endParaRPr>
          </a:p>
          <a:p>
            <a:pPr>
              <a:defRPr/>
            </a:pPr>
            <a:r>
              <a:rPr lang="it-IT" sz="10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    </a:t>
            </a:r>
            <a:r>
              <a:rPr lang="it-IT" sz="1000" b="0" i="0" u="none" strike="noStrike" cap="none" spc="0">
                <a:solidFill>
                  <a:srgbClr val="00B0F0"/>
                </a:solidFill>
                <a:latin typeface="JetBrainsMono NF"/>
                <a:ea typeface="JetBrainsMono NF"/>
                <a:cs typeface="JetBrainsMono NF"/>
              </a:rPr>
              <a:t>Path       </a:t>
            </a:r>
            <a:r>
              <a:rPr lang="it-IT" sz="10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[]uint32 </a:t>
            </a:r>
            <a:endParaRPr lang="it-IT" sz="1000" b="0" i="0" u="none" strike="noStrike" cap="none" spc="0">
              <a:solidFill>
                <a:schemeClr val="bg1"/>
              </a:solidFill>
              <a:latin typeface="JetBrainsMono NF"/>
              <a:cs typeface="JetBrainsMono NF"/>
            </a:endParaRPr>
          </a:p>
          <a:p>
            <a:pPr>
              <a:defRPr/>
            </a:pPr>
            <a:r>
              <a:rPr lang="it-IT" sz="10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    </a:t>
            </a:r>
            <a:r>
              <a:rPr lang="it-IT" sz="1000" b="0" i="0" u="none" strike="noStrike" cap="none" spc="0">
                <a:solidFill>
                  <a:srgbClr val="00B0F0"/>
                </a:solidFill>
                <a:latin typeface="JetBrainsMono NF"/>
                <a:ea typeface="JetBrainsMono NF"/>
                <a:cs typeface="JetBrainsMono NF"/>
              </a:rPr>
              <a:t>Balance    </a:t>
            </a:r>
            <a:r>
              <a:rPr lang="it-IT" sz="10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int64   </a:t>
            </a:r>
            <a:endParaRPr lang="it-IT" sz="1000" b="0" i="0" u="none" strike="noStrike" cap="none" spc="0">
              <a:solidFill>
                <a:schemeClr val="bg1"/>
              </a:solidFill>
              <a:latin typeface="JetBrainsMono NF"/>
              <a:cs typeface="JetBrainsMono NF"/>
            </a:endParaRPr>
          </a:p>
          <a:p>
            <a:pPr>
              <a:defRPr/>
            </a:pPr>
            <a:r>
              <a:rPr lang="it-IT" sz="10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}</a:t>
            </a:r>
            <a:endParaRPr sz="1000">
              <a:solidFill>
                <a:schemeClr val="bg1"/>
              </a:solidFill>
              <a:latin typeface="JetBrainsMono NF"/>
              <a:cs typeface="JetBrainsMono NF"/>
            </a:endParaRPr>
          </a:p>
        </p:txBody>
      </p:sp>
      <p:pic>
        <p:nvPicPr>
          <p:cNvPr id="1091124062" name="Google Shape;122;p15" descr="image.png"/>
          <p:cNvPicPr/>
          <p:nvPr/>
        </p:nvPicPr>
        <p:blipFill rotWithShape="1">
          <a:blip r:embed="rId6">
            <a:alphaModFix/>
          </a:blip>
          <a:srcRect l="0" t="0" r="0" b="0"/>
          <a:stretch/>
        </p:blipFill>
        <p:spPr bwMode="auto">
          <a:xfrm rot="0" flipH="0" flipV="0">
            <a:off x="466724" y="3373504"/>
            <a:ext cx="2883764" cy="353503"/>
          </a:xfrm>
          <a:prstGeom prst="rect">
            <a:avLst/>
          </a:prstGeom>
          <a:noFill/>
          <a:ln>
            <a:noFill/>
          </a:ln>
        </p:spPr>
      </p:pic>
      <p:sp>
        <p:nvSpPr>
          <p:cNvPr id="1268786827" name="Google Shape;131;p15"/>
          <p:cNvSpPr txBox="1"/>
          <p:nvPr/>
        </p:nvSpPr>
        <p:spPr bwMode="auto">
          <a:xfrm rot="0" flipH="0" flipV="0">
            <a:off x="771525" y="3439429"/>
            <a:ext cx="2738980" cy="27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1200" b="0">
                <a:solidFill>
                  <a:schemeClr val="bg1"/>
                </a:solidFill>
              </a:rPr>
              <a:t>Ogni foglia rappresenta un indirizzo</a:t>
            </a:r>
            <a:endParaRPr sz="1200" b="0">
              <a:solidFill>
                <a:schemeClr val="bg1"/>
              </a:solidFill>
            </a:endParaRPr>
          </a:p>
        </p:txBody>
      </p:sp>
      <p:pic>
        <p:nvPicPr>
          <p:cNvPr id="1510384019" name="Google Shape;239;p19" descr="image.png"/>
          <p:cNvPicPr/>
          <p:nvPr/>
        </p:nvPicPr>
        <p:blipFill rotWithShape="1">
          <a:blip r:embed="rId7">
            <a:alphaModFix/>
          </a:blip>
          <a:srcRect l="0" t="0" r="0" b="0"/>
          <a:stretch/>
        </p:blipFill>
        <p:spPr bwMode="auto">
          <a:xfrm>
            <a:off x="566427" y="3443599"/>
            <a:ext cx="171450" cy="190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82724435" name="Google Shape;176;p17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9794544" name="Google Shape;178;p17"/>
          <p:cNvSpPr txBox="1"/>
          <p:nvPr/>
        </p:nvSpPr>
        <p:spPr bwMode="auto">
          <a:xfrm>
            <a:off x="885825" y="466724"/>
            <a:ext cx="11306173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Implementazione Indirizzi: P2PKH vs P2WPKH</a:t>
            </a:r>
            <a:endParaRPr/>
          </a:p>
        </p:txBody>
      </p:sp>
      <p:pic>
        <p:nvPicPr>
          <p:cNvPr id="1529260438" name="Google Shape;180;p17" descr="image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466724" y="576261"/>
            <a:ext cx="304799" cy="266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1332534" name="Google Shape;198;p17" descr="image.png"/>
          <p:cNvPicPr/>
          <p:nvPr/>
        </p:nvPicPr>
        <p:blipFill rotWithShape="1">
          <a:blip r:embed="rId5">
            <a:alphaModFix/>
          </a:blip>
          <a:srcRect l="0" t="0" r="0" b="0"/>
          <a:stretch/>
        </p:blipFill>
        <p:spPr bwMode="auto">
          <a:xfrm flipH="0" flipV="0">
            <a:off x="442732" y="1223202"/>
            <a:ext cx="795336" cy="247649"/>
          </a:xfrm>
          <a:prstGeom prst="rect">
            <a:avLst/>
          </a:prstGeom>
          <a:noFill/>
          <a:ln>
            <a:noFill/>
          </a:ln>
        </p:spPr>
      </p:pic>
      <p:sp>
        <p:nvSpPr>
          <p:cNvPr id="763530197" name="Google Shape;178;p17"/>
          <p:cNvSpPr txBox="1"/>
          <p:nvPr/>
        </p:nvSpPr>
        <p:spPr bwMode="auto">
          <a:xfrm flipH="0" flipV="0">
            <a:off x="442732" y="1593187"/>
            <a:ext cx="3264861" cy="388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P2</a:t>
            </a:r>
            <a:r>
              <a:rPr lang="en-US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PKH </a:t>
            </a:r>
            <a:r>
              <a:rPr lang="it-IT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— Legacy</a:t>
            </a:r>
            <a:endParaRPr/>
          </a:p>
        </p:txBody>
      </p:sp>
      <p:pic>
        <p:nvPicPr>
          <p:cNvPr id="805742953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2237540" y="2376830"/>
            <a:ext cx="7343775" cy="37147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15496885" name="Google Shape;176;p17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3069634" name="Google Shape;178;p17"/>
          <p:cNvSpPr txBox="1"/>
          <p:nvPr/>
        </p:nvSpPr>
        <p:spPr bwMode="auto">
          <a:xfrm>
            <a:off x="885825" y="466725"/>
            <a:ext cx="11306174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Implementazione Indirizzi: P2PKH vs P2WPKH</a:t>
            </a:r>
            <a:endParaRPr/>
          </a:p>
        </p:txBody>
      </p:sp>
      <p:pic>
        <p:nvPicPr>
          <p:cNvPr id="639725461" name="Google Shape;180;p17" descr="image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466725" y="576262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7073552" name="Google Shape;199;p17" descr="image.png"/>
          <p:cNvPicPr/>
          <p:nvPr/>
        </p:nvPicPr>
        <p:blipFill rotWithShape="1">
          <a:blip r:embed="rId5">
            <a:alphaModFix/>
          </a:blip>
          <a:srcRect l="0" t="0" r="0" b="0"/>
          <a:stretch/>
        </p:blipFill>
        <p:spPr bwMode="auto">
          <a:xfrm>
            <a:off x="442732" y="1252242"/>
            <a:ext cx="8286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607656870" name="Google Shape;178;p17"/>
          <p:cNvSpPr txBox="1"/>
          <p:nvPr/>
        </p:nvSpPr>
        <p:spPr bwMode="auto">
          <a:xfrm flipH="0" flipV="0">
            <a:off x="442732" y="1591747"/>
            <a:ext cx="3233242" cy="388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P</a:t>
            </a:r>
            <a:r>
              <a:rPr lang="en-US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</a:t>
            </a:r>
            <a:r>
              <a:rPr lang="it-IT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W</a:t>
            </a:r>
            <a:r>
              <a:rPr lang="en-US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PKH </a:t>
            </a:r>
            <a:r>
              <a:rPr lang="it-IT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— SegWit</a:t>
            </a:r>
            <a:endParaRPr/>
          </a:p>
        </p:txBody>
      </p:sp>
      <p:pic>
        <p:nvPicPr>
          <p:cNvPr id="2098765828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2871786" y="2057447"/>
            <a:ext cx="7334249" cy="37147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83301627" name="Google Shape;204;p18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-2749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130979" name="Google Shape;178;p17"/>
          <p:cNvSpPr txBox="1"/>
          <p:nvPr/>
        </p:nvSpPr>
        <p:spPr bwMode="auto">
          <a:xfrm>
            <a:off x="885825" y="536001"/>
            <a:ext cx="11347932" cy="388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it-IT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Transazioni</a:t>
            </a:r>
            <a:endParaRPr/>
          </a:p>
        </p:txBody>
      </p:sp>
      <p:pic>
        <p:nvPicPr>
          <p:cNvPr id="1396218588" name="Google Shape;180;p17" descr="image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466724" y="576261"/>
            <a:ext cx="304799" cy="266699"/>
          </a:xfrm>
          <a:prstGeom prst="rect">
            <a:avLst/>
          </a:prstGeom>
          <a:noFill/>
          <a:ln>
            <a:noFill/>
          </a:ln>
        </p:spPr>
      </p:pic>
      <p:sp>
        <p:nvSpPr>
          <p:cNvPr id="1060708351" name=""/>
          <p:cNvSpPr/>
          <p:nvPr/>
        </p:nvSpPr>
        <p:spPr bwMode="auto">
          <a:xfrm rot="0" flipH="0" flipV="0">
            <a:off x="3409407" y="3099611"/>
            <a:ext cx="2150489" cy="363323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l"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it-IT" sz="1000" u="none" strike="noStrike" cap="none" spc="0">
                          <a:solidFill>
                            <a:srgbClr val="00B0F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Change</m:t>
                      </m:r>
                      <m:r>
                        <m:rPr>
                          <m:sty m:val="p"/>
                        </m:rPr>
                        <a:rPr lang="it-IT" sz="1000" u="none" strike="noStrike" cap="none" spc="0">
                          <a:solidFill>
                            <a:srgbClr val="00B0F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grow m:val="off"/>
                          <m:subHide m:val="on"/>
                          <m:supHide m:val="on"/>
                          <m:ctrlPr>
                            <a:rPr lang="it-IT" sz="1000" b="0" i="0" u="none" strike="noStrike" cap="none" spc="0">
                              <a:solidFill>
                                <a:srgbClr val="00B0F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it-IT" sz="1000" u="none" strike="noStrike" cap="none" spc="0">
                              <a:solidFill>
                                <a:srgbClr val="00B0F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Input</m:t>
                          </m:r>
                          <m:r>
                            <m:rPr>
                              <m:sty m:val="p"/>
                            </m:rPr>
                            <a:rPr lang="it-IT" sz="1000" u="none" strike="noStrike" cap="none" spc="0">
                              <a:solidFill>
                                <a:srgbClr val="00B0F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-</m:t>
                          </m:r>
                          <m:r>
                            <m:rPr>
                              <m:sty m:val="p"/>
                            </m:rPr>
                            <a:rPr lang="it-IT" sz="1000" u="none" strike="noStrike" cap="none" spc="0">
                              <a:solidFill>
                                <a:srgbClr val="00B0F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Target</m:t>
                          </m:r>
                          <m:r>
                            <m:rPr>
                              <m:sty m:val="p"/>
                            </m:rPr>
                            <a:rPr lang="it-IT" sz="1000" u="none" strike="noStrike" cap="none" spc="0">
                              <a:solidFill>
                                <a:srgbClr val="00B0F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-</m:t>
                          </m:r>
                          <m:r>
                            <m:rPr>
                              <m:sty m:val="p"/>
                            </m:rPr>
                            <a:rPr lang="it-IT" sz="1000" u="none" strike="noStrike" cap="none" spc="0">
                              <a:solidFill>
                                <a:srgbClr val="00B0F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Fee</m:t>
                          </m:r>
                        </m:e>
                      </m:nary>
                    </m:oMath>
                  </m:oMathPara>
                </a14:m>
              </mc:Choice>
              <mc:Fallback/>
            </mc:AlternateContent>
            <a:endParaRPr lang="it-IT" sz="1000" b="0" i="0" u="none" strike="noStrike" cap="none" spc="0">
              <a:solidFill>
                <a:srgbClr val="00B0F0"/>
              </a:solidFill>
              <a:latin typeface="Times New Roman"/>
              <a:cs typeface="Times New Roman"/>
            </a:endParaRPr>
          </a:p>
        </p:txBody>
      </p:sp>
      <p:grpSp>
        <p:nvGrpSpPr>
          <p:cNvPr id="137905348" name=""/>
          <p:cNvGrpSpPr/>
          <p:nvPr/>
        </p:nvGrpSpPr>
        <p:grpSpPr bwMode="auto">
          <a:xfrm>
            <a:off x="529274" y="2602899"/>
            <a:ext cx="11196144" cy="1888435"/>
            <a:chOff x="0" y="0"/>
            <a:chExt cx="11196144" cy="1888435"/>
          </a:xfrm>
        </p:grpSpPr>
        <p:grpSp>
          <p:nvGrpSpPr>
            <p:cNvPr id="1083745336" name=""/>
            <p:cNvGrpSpPr/>
            <p:nvPr/>
          </p:nvGrpSpPr>
          <p:grpSpPr bwMode="auto">
            <a:xfrm rot="0" flipH="0" flipV="0">
              <a:off x="0" y="0"/>
              <a:ext cx="2540079" cy="1881988"/>
              <a:chOff x="0" y="0"/>
              <a:chExt cx="2540079" cy="1881988"/>
            </a:xfrm>
          </p:grpSpPr>
          <p:sp>
            <p:nvSpPr>
              <p:cNvPr id="513591917" name=""/>
              <p:cNvSpPr/>
              <p:nvPr/>
            </p:nvSpPr>
            <p:spPr bwMode="auto">
              <a:xfrm rot="0" flipH="0" flipV="0">
                <a:off x="0" y="0"/>
                <a:ext cx="2540080" cy="1881989"/>
              </a:xfrm>
              <a:prstGeom prst="flowChartAlternateProcess">
                <a:avLst/>
              </a:prstGeom>
              <a:solidFill>
                <a:srgbClr val="1E293B"/>
              </a:solidFill>
              <a:ln w="19050" cap="flat" cmpd="sng" algn="ctr">
                <a:solidFill>
                  <a:srgbClr val="0E2F4B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algn="ctr">
                  <a:defRPr/>
                </a:pPr>
                <a:endParaRPr b="1">
                  <a:solidFill>
                    <a:schemeClr val="bg1">
                      <a:lumMod val="75000"/>
                    </a:schemeClr>
                  </a:solidFill>
                  <a:latin typeface="JetBrainsMono NF"/>
                  <a:cs typeface="JetBrainsMono NF"/>
                </a:endParaRPr>
              </a:p>
            </p:txBody>
          </p:sp>
          <p:sp>
            <p:nvSpPr>
              <p:cNvPr id="1339087939" name=""/>
              <p:cNvSpPr txBox="1"/>
              <p:nvPr/>
            </p:nvSpPr>
            <p:spPr bwMode="auto">
              <a:xfrm rot="0" flipH="0" flipV="0">
                <a:off x="144099" y="274947"/>
                <a:ext cx="2264387" cy="134147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sz="1200" b="1">
                    <a:solidFill>
                      <a:srgbClr val="F39119"/>
                    </a:solidFill>
                    <a:latin typeface="Poppins"/>
                    <a:ea typeface="Poppins"/>
                    <a:cs typeface="Poppins"/>
                  </a:rPr>
                  <a:t>FASE 01</a:t>
                </a:r>
                <a:endParaRPr b="1">
                  <a:solidFill>
                    <a:srgbClr val="F39119"/>
                  </a:solidFill>
                  <a:latin typeface="Poppins"/>
                  <a:ea typeface="Poppins"/>
                  <a:cs typeface="Poppins"/>
                </a:endParaRPr>
              </a:p>
              <a:p>
                <a:pPr>
                  <a:defRPr/>
                </a:pPr>
                <a:endParaRPr b="1">
                  <a:solidFill>
                    <a:srgbClr val="F39119"/>
                  </a:solidFill>
                  <a:latin typeface="Poppins"/>
                  <a:ea typeface="Poppins"/>
                  <a:cs typeface="Poppins"/>
                </a:endParaRPr>
              </a:p>
              <a:p>
                <a:pPr>
                  <a:defRPr/>
                </a:pPr>
                <a:r>
                  <a:rPr lang="it-IT" sz="1200" b="1" i="0" u="none" strike="noStrike" cap="none" spc="0">
                    <a:solidFill>
                      <a:schemeClr val="bg1"/>
                    </a:solidFill>
                    <a:latin typeface="Poppins"/>
                    <a:ea typeface="Poppins"/>
                    <a:cs typeface="Poppins"/>
                  </a:rPr>
                  <a:t>UTXO Selection</a:t>
                </a:r>
                <a:endParaRPr lang="it-IT" sz="1200" b="1" i="0" u="none" strike="noStrike" cap="none" spc="0">
                  <a:solidFill>
                    <a:schemeClr val="bg1"/>
                  </a:solidFill>
                  <a:latin typeface="Times New Roman"/>
                  <a:cs typeface="Times New Roman"/>
                </a:endParaRPr>
              </a:p>
              <a:p>
                <a:pPr>
                  <a:defRPr/>
                </a:pPr>
                <a:endParaRPr b="1">
                  <a:solidFill>
                    <a:srgbClr val="F39119"/>
                  </a:solidFill>
                  <a:latin typeface="Poppins"/>
                  <a:cs typeface="Poppins"/>
                </a:endParaRPr>
              </a:p>
              <a:p>
                <a:pPr>
                  <a:defRPr/>
                </a:pPr>
                <a:r>
                  <a:rPr sz="1000" b="0">
                    <a:solidFill>
                      <a:schemeClr val="bg1">
                        <a:lumMod val="75000"/>
                      </a:schemeClr>
                    </a:solidFill>
                    <a:latin typeface="Adwaita Sans"/>
                    <a:ea typeface="Adwaita Sans"/>
                    <a:cs typeface="Adwaita Sans"/>
                  </a:rPr>
                  <a:t>Il wallet seleziona gli UTXO non spesi dal set per coprire l’importo inviato.</a:t>
                </a:r>
                <a:endParaRPr sz="1000" b="0">
                  <a:solidFill>
                    <a:schemeClr val="bg1">
                      <a:lumMod val="75000"/>
                    </a:schemeClr>
                  </a:solidFill>
                  <a:latin typeface="Adwaita Sans"/>
                  <a:cs typeface="Adwaita Sans"/>
                </a:endParaRPr>
              </a:p>
            </p:txBody>
          </p:sp>
        </p:grpSp>
        <p:sp>
          <p:nvSpPr>
            <p:cNvPr id="1980308656" name=""/>
            <p:cNvSpPr/>
            <p:nvPr/>
          </p:nvSpPr>
          <p:spPr bwMode="auto">
            <a:xfrm rot="0" flipH="0" flipV="0">
              <a:off x="5419116" y="827851"/>
              <a:ext cx="240222" cy="325731"/>
            </a:xfrm>
            <a:prstGeom prst="chevron">
              <a:avLst>
                <a:gd name="adj" fmla="val 50000"/>
              </a:avLst>
            </a:prstGeom>
            <a:solidFill>
              <a:srgbClr val="F39119"/>
            </a:solidFill>
            <a:ln w="25400" cap="flat" cmpd="sng" algn="ctr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 u="sng"/>
            </a:p>
          </p:txBody>
        </p:sp>
        <p:sp>
          <p:nvSpPr>
            <p:cNvPr id="1582927320" name=""/>
            <p:cNvSpPr/>
            <p:nvPr/>
          </p:nvSpPr>
          <p:spPr bwMode="auto">
            <a:xfrm rot="0" flipH="0" flipV="0">
              <a:off x="8340639" y="827851"/>
              <a:ext cx="240222" cy="325731"/>
            </a:xfrm>
            <a:prstGeom prst="chevron">
              <a:avLst>
                <a:gd name="adj" fmla="val 50000"/>
              </a:avLst>
            </a:prstGeom>
            <a:solidFill>
              <a:srgbClr val="F39119"/>
            </a:solidFill>
            <a:ln w="25400" cap="flat" cmpd="sng" algn="ctr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 u="sng"/>
            </a:p>
          </p:txBody>
        </p:sp>
        <p:sp>
          <p:nvSpPr>
            <p:cNvPr id="1973854038" name=""/>
            <p:cNvSpPr/>
            <p:nvPr/>
          </p:nvSpPr>
          <p:spPr bwMode="auto">
            <a:xfrm rot="0" flipH="0" flipV="0">
              <a:off x="2557993" y="837239"/>
              <a:ext cx="240224" cy="325732"/>
            </a:xfrm>
            <a:prstGeom prst="chevron">
              <a:avLst>
                <a:gd name="adj" fmla="val 50000"/>
              </a:avLst>
            </a:prstGeom>
            <a:solidFill>
              <a:srgbClr val="F39119"/>
            </a:solidFill>
            <a:ln w="25400" cap="flat" cmpd="sng" algn="ctr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 u="sng"/>
            </a:p>
          </p:txBody>
        </p:sp>
        <p:grpSp>
          <p:nvGrpSpPr>
            <p:cNvPr id="1101290643" name=""/>
            <p:cNvGrpSpPr/>
            <p:nvPr/>
          </p:nvGrpSpPr>
          <p:grpSpPr bwMode="auto">
            <a:xfrm>
              <a:off x="2848231" y="6447"/>
              <a:ext cx="2540079" cy="1881987"/>
              <a:chOff x="0" y="0"/>
              <a:chExt cx="2540079" cy="1881987"/>
            </a:xfrm>
          </p:grpSpPr>
          <p:grpSp>
            <p:nvGrpSpPr>
              <p:cNvPr id="608014859" name=""/>
              <p:cNvGrpSpPr/>
              <p:nvPr/>
            </p:nvGrpSpPr>
            <p:grpSpPr bwMode="auto">
              <a:xfrm rot="0" flipH="0" flipV="0">
                <a:off x="0" y="0"/>
                <a:ext cx="2540079" cy="1881987"/>
                <a:chOff x="0" y="0"/>
                <a:chExt cx="2540079" cy="1881987"/>
              </a:xfrm>
            </p:grpSpPr>
            <p:sp>
              <p:nvSpPr>
                <p:cNvPr id="1631244231" name=""/>
                <p:cNvSpPr/>
                <p:nvPr/>
              </p:nvSpPr>
              <p:spPr bwMode="auto">
                <a:xfrm rot="0" flipH="0" flipV="0">
                  <a:off x="0" y="0"/>
                  <a:ext cx="2540079" cy="1881988"/>
                </a:xfrm>
                <a:prstGeom prst="flowChartAlternateProcess">
                  <a:avLst/>
                </a:prstGeom>
                <a:solidFill>
                  <a:srgbClr val="1E293B"/>
                </a:solidFill>
                <a:ln w="19050" cap="flat" cmpd="sng" algn="ctr">
                  <a:solidFill>
                    <a:srgbClr val="0E2F4B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p>
                  <a:pPr algn="ctr">
                    <a:defRPr/>
                  </a:pPr>
                  <a:endParaRPr b="1">
                    <a:solidFill>
                      <a:schemeClr val="bg1">
                        <a:lumMod val="75000"/>
                      </a:schemeClr>
                    </a:solidFill>
                    <a:latin typeface="JetBrainsMono NF"/>
                    <a:cs typeface="JetBrainsMono NF"/>
                  </a:endParaRPr>
                </a:p>
              </p:txBody>
            </p:sp>
            <p:sp>
              <p:nvSpPr>
                <p:cNvPr id="1651967607" name=""/>
                <p:cNvSpPr txBox="1"/>
                <p:nvPr/>
              </p:nvSpPr>
              <p:spPr bwMode="auto">
                <a:xfrm rot="0" flipH="0" flipV="0">
                  <a:off x="144099" y="274946"/>
                  <a:ext cx="2349346" cy="1189080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<a:spAutoFit/>
                </a:bodyPr>
                <a:p>
                  <a:pPr>
                    <a:defRPr/>
                  </a:pPr>
                  <a:r>
                    <a:rPr sz="1200" b="1">
                      <a:solidFill>
                        <a:srgbClr val="F39119"/>
                      </a:solidFill>
                      <a:latin typeface="Poppins"/>
                      <a:ea typeface="Poppins"/>
                      <a:cs typeface="Poppins"/>
                    </a:rPr>
                    <a:t>FASE 02</a:t>
                  </a:r>
                  <a:endParaRPr b="1">
                    <a:solidFill>
                      <a:srgbClr val="F39119"/>
                    </a:solidFill>
                    <a:latin typeface="Poppins"/>
                    <a:ea typeface="Poppins"/>
                    <a:cs typeface="Poppins"/>
                  </a:endParaRPr>
                </a:p>
                <a:p>
                  <a:pPr>
                    <a:defRPr/>
                  </a:pPr>
                  <a:endParaRPr b="1">
                    <a:solidFill>
                      <a:srgbClr val="F39119"/>
                    </a:solidFill>
                    <a:latin typeface="Poppins"/>
                    <a:ea typeface="Poppins"/>
                    <a:cs typeface="Poppins"/>
                  </a:endParaRPr>
                </a:p>
                <a:p>
                  <a:pPr>
                    <a:defRPr/>
                  </a:pPr>
                  <a:r>
                    <a:rPr lang="it-IT" sz="1200" b="1" i="0" u="none" strike="noStrike" cap="none" spc="0">
                      <a:solidFill>
                        <a:schemeClr val="bg1"/>
                      </a:solidFill>
                      <a:latin typeface="Poppins"/>
                      <a:ea typeface="Poppins"/>
                      <a:cs typeface="Poppins"/>
                    </a:rPr>
                    <a:t>Fee &amp; Change</a:t>
                  </a:r>
                  <a:endParaRPr lang="it-IT" sz="1200" b="1" i="0" u="none" strike="noStrike" cap="none" spc="0">
                    <a:solidFill>
                      <a:schemeClr val="bg1"/>
                    </a:solidFill>
                    <a:latin typeface="Times New Roman"/>
                    <a:cs typeface="Times New Roman"/>
                  </a:endParaRPr>
                </a:p>
                <a:p>
                  <a:pPr>
                    <a:defRPr/>
                  </a:pPr>
                  <a:endParaRPr b="1">
                    <a:solidFill>
                      <a:srgbClr val="F39119"/>
                    </a:solidFill>
                    <a:latin typeface="Poppins"/>
                    <a:cs typeface="Poppins"/>
                  </a:endParaRPr>
                </a:p>
                <a:p>
                  <a:pPr>
                    <a:defRPr/>
                  </a:pPr>
                  <a:r>
                    <a:rPr sz="1000" b="0">
                      <a:solidFill>
                        <a:schemeClr val="bg1">
                          <a:lumMod val="75000"/>
                        </a:schemeClr>
                      </a:solidFill>
                      <a:latin typeface="Adwaita Sans"/>
                      <a:ea typeface="Adwaita Sans"/>
                      <a:cs typeface="Adwaita Sans"/>
                    </a:rPr>
                    <a:t>Si stima la dimensione (vB) e si calcola l’Output di Resto (Change).</a:t>
                  </a:r>
                  <a:endParaRPr sz="1000" b="0">
                    <a:solidFill>
                      <a:schemeClr val="bg1">
                        <a:lumMod val="75000"/>
                      </a:schemeClr>
                    </a:solidFill>
                    <a:latin typeface="Adwaita Sans"/>
                    <a:ea typeface="Adwaita Sans"/>
                    <a:cs typeface="Adwaita Sans"/>
                  </a:endParaRPr>
                </a:p>
              </p:txBody>
            </p:sp>
          </p:grpSp>
          <p:sp>
            <p:nvSpPr>
              <p:cNvPr id="634812457" name=""/>
              <p:cNvSpPr/>
              <p:nvPr/>
            </p:nvSpPr>
            <p:spPr bwMode="auto">
              <a:xfrm rot="0" flipH="0" flipV="0">
                <a:off x="194276" y="1415576"/>
                <a:ext cx="2150489" cy="363323"/>
              </a:xfrm>
              <a:prstGeom prst="roundRect">
                <a:avLst>
                  <a:gd name="adj" fmla="val 16667"/>
                </a:avLst>
              </a:prstGeom>
              <a:solidFill>
                <a:srgbClr val="0F172A"/>
              </a:solidFill>
              <a:ln w="25400" cap="flat" cmpd="sng" algn="ctr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algn="l">
                  <a:defRPr/>
                </a:pPr>
                <mc:AlternateContent xmlns:mc="http://schemas.openxmlformats.org/markup-compatibility/2006" xmlns:m="http://schemas.openxmlformats.org/officeDocument/2006/math">
                  <mc:Choice xmlns:a14="http://schemas.microsoft.com/office/drawing/2010/main" Requires="a14">
                    <a14:m>
                      <m:oMathPara>
                        <m:oMathParaPr/>
                        <m:oMath>
                          <m:r>
                            <m:rPr>
                              <m:sty m:val="p"/>
                            </m:rPr>
                            <a:rPr lang="it-IT" sz="1000" u="none" strike="noStrike" cap="none" spc="0">
                              <a:solidFill>
                                <a:srgbClr val="00B0F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Change</m:t>
                          </m:r>
                          <m:r>
                            <m:rPr>
                              <m:sty m:val="p"/>
                            </m:rPr>
                            <a:rPr lang="it-IT" sz="1000" u="none" strike="noStrike" cap="none" spc="0">
                              <a:solidFill>
                                <a:srgbClr val="00B0F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nary>
                            <m:naryPr>
                              <m:chr m:val="∑"/>
                              <m:grow m:val="off"/>
                              <m:subHide m:val="on"/>
                              <m:supHide m:val="on"/>
                              <m:ctrlPr>
                                <a:rPr lang="it-IT" sz="1000" b="0" i="0" u="none" strike="noStrike" cap="none" spc="0">
                                  <a:solidFill>
                                    <a:srgbClr val="00B0F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m:rPr>
                                  <m:sty m:val="p"/>
                                </m:rPr>
                                <a:rPr lang="it-IT" sz="1000" u="none" strike="noStrike" cap="none" spc="0">
                                  <a:solidFill>
                                    <a:srgbClr val="00B0F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Input</m:t>
                              </m:r>
                              <m:r>
                                <m:rPr>
                                  <m:sty m:val="p"/>
                                </m:rPr>
                                <a:rPr lang="it-IT" sz="1000" u="none" strike="noStrike" cap="none" spc="0">
                                  <a:solidFill>
                                    <a:srgbClr val="00B0F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-</m:t>
                              </m:r>
                              <m:r>
                                <m:rPr>
                                  <m:sty m:val="p"/>
                                </m:rPr>
                                <a:rPr lang="it-IT" sz="1000" u="none" strike="noStrike" cap="none" spc="0">
                                  <a:solidFill>
                                    <a:srgbClr val="00B0F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Target</m:t>
                              </m:r>
                              <m:r>
                                <m:rPr>
                                  <m:sty m:val="p"/>
                                </m:rPr>
                                <a:rPr lang="it-IT" sz="1000" u="none" strike="noStrike" cap="none" spc="0">
                                  <a:solidFill>
                                    <a:srgbClr val="00B0F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-</m:t>
                              </m:r>
                              <m:r>
                                <m:rPr>
                                  <m:sty m:val="p"/>
                                </m:rPr>
                                <a:rPr lang="it-IT" sz="1000" u="none" strike="noStrike" cap="none" spc="0">
                                  <a:solidFill>
                                    <a:srgbClr val="00B0F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Fee</m:t>
                              </m:r>
                            </m:e>
                          </m:nary>
                        </m:oMath>
                      </m:oMathPara>
                    </a14:m>
                  </mc:Choice>
                  <mc:Fallback/>
                </mc:AlternateContent>
                <a:endParaRPr lang="it-IT" sz="1000" b="0" i="0" u="none" strike="noStrike" cap="none" spc="0">
                  <a:solidFill>
                    <a:srgbClr val="00B0F0"/>
                  </a:solidFill>
                  <a:latin typeface="Times New Roman"/>
                  <a:cs typeface="Times New Roman"/>
                </a:endParaRPr>
              </a:p>
            </p:txBody>
          </p:sp>
        </p:grpSp>
        <p:grpSp>
          <p:nvGrpSpPr>
            <p:cNvPr id="527421207" name=""/>
            <p:cNvGrpSpPr/>
            <p:nvPr/>
          </p:nvGrpSpPr>
          <p:grpSpPr bwMode="auto">
            <a:xfrm>
              <a:off x="5734540" y="0"/>
              <a:ext cx="2540079" cy="1881987"/>
              <a:chOff x="0" y="0"/>
              <a:chExt cx="2540079" cy="1881987"/>
            </a:xfrm>
          </p:grpSpPr>
          <p:sp>
            <p:nvSpPr>
              <p:cNvPr id="1549424329" name=""/>
              <p:cNvSpPr/>
              <p:nvPr/>
            </p:nvSpPr>
            <p:spPr bwMode="auto">
              <a:xfrm rot="0" flipH="0" flipV="0">
                <a:off x="0" y="0"/>
                <a:ext cx="2540079" cy="1881988"/>
              </a:xfrm>
              <a:prstGeom prst="flowChartAlternateProcess">
                <a:avLst/>
              </a:prstGeom>
              <a:solidFill>
                <a:srgbClr val="1E293B"/>
              </a:solidFill>
              <a:ln w="19050" cap="flat" cmpd="sng" algn="ctr">
                <a:solidFill>
                  <a:srgbClr val="0E2F4B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algn="ctr">
                  <a:defRPr/>
                </a:pPr>
                <a:endParaRPr b="1">
                  <a:solidFill>
                    <a:schemeClr val="bg1">
                      <a:lumMod val="75000"/>
                    </a:schemeClr>
                  </a:solidFill>
                  <a:latin typeface="JetBrainsMono NF"/>
                  <a:cs typeface="JetBrainsMono NF"/>
                </a:endParaRPr>
              </a:p>
            </p:txBody>
          </p:sp>
          <p:sp>
            <p:nvSpPr>
              <p:cNvPr id="323474262" name=""/>
              <p:cNvSpPr txBox="1"/>
              <p:nvPr/>
            </p:nvSpPr>
            <p:spPr bwMode="auto">
              <a:xfrm rot="0" flipH="0" flipV="0">
                <a:off x="113005" y="270253"/>
                <a:ext cx="2314785" cy="134147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sz="1200" b="1">
                    <a:solidFill>
                      <a:srgbClr val="F39119"/>
                    </a:solidFill>
                    <a:latin typeface="Poppins"/>
                    <a:ea typeface="Poppins"/>
                    <a:cs typeface="Poppins"/>
                  </a:rPr>
                  <a:t>FASE 03</a:t>
                </a:r>
                <a:endParaRPr b="1">
                  <a:solidFill>
                    <a:srgbClr val="F39119"/>
                  </a:solidFill>
                  <a:latin typeface="Poppins"/>
                  <a:ea typeface="Poppins"/>
                  <a:cs typeface="Poppins"/>
                </a:endParaRPr>
              </a:p>
              <a:p>
                <a:pPr>
                  <a:defRPr/>
                </a:pPr>
                <a:endParaRPr b="1">
                  <a:solidFill>
                    <a:srgbClr val="F39119"/>
                  </a:solidFill>
                  <a:latin typeface="Poppins"/>
                  <a:ea typeface="Poppins"/>
                  <a:cs typeface="Poppins"/>
                </a:endParaRPr>
              </a:p>
              <a:p>
                <a:pPr>
                  <a:defRPr/>
                </a:pPr>
                <a:r>
                  <a:rPr lang="it-IT" sz="1200" b="1" i="0" u="none" strike="noStrike" cap="none" spc="0">
                    <a:solidFill>
                      <a:schemeClr val="bg1"/>
                    </a:solidFill>
                    <a:latin typeface="Poppins"/>
                    <a:ea typeface="Poppins"/>
                    <a:cs typeface="Poppins"/>
                  </a:rPr>
                  <a:t>Build Transaction</a:t>
                </a:r>
                <a:endParaRPr lang="it-IT" sz="1200" b="1" i="0" u="none" strike="noStrike" cap="none" spc="0">
                  <a:solidFill>
                    <a:schemeClr val="bg1"/>
                  </a:solidFill>
                  <a:latin typeface="Times New Roman"/>
                  <a:cs typeface="Times New Roman"/>
                </a:endParaRPr>
              </a:p>
              <a:p>
                <a:pPr>
                  <a:defRPr/>
                </a:pPr>
                <a:endParaRPr b="1">
                  <a:solidFill>
                    <a:srgbClr val="F39119"/>
                  </a:solidFill>
                  <a:latin typeface="Poppins"/>
                  <a:cs typeface="Poppins"/>
                </a:endParaRPr>
              </a:p>
              <a:p>
                <a:pPr>
                  <a:defRPr/>
                </a:pPr>
                <a:r>
                  <a:rPr sz="1000" b="0">
                    <a:solidFill>
                      <a:schemeClr val="bg1">
                        <a:lumMod val="75000"/>
                      </a:schemeClr>
                    </a:solidFill>
                    <a:latin typeface="Adwaita Sans"/>
                    <a:ea typeface="Adwaita Sans"/>
                    <a:cs typeface="Adwaita Sans"/>
                  </a:rPr>
                  <a:t>Vengono definiti e fissati tutti gli Input e gli Output con i relativi valori finali.</a:t>
                </a:r>
                <a:endParaRPr sz="1000" b="0">
                  <a:solidFill>
                    <a:schemeClr val="bg1">
                      <a:lumMod val="75000"/>
                    </a:schemeClr>
                  </a:solidFill>
                  <a:latin typeface="Adwaita Sans"/>
                  <a:cs typeface="Adwaita Sans"/>
                </a:endParaRPr>
              </a:p>
            </p:txBody>
          </p:sp>
        </p:grpSp>
        <p:grpSp>
          <p:nvGrpSpPr>
            <p:cNvPr id="1008501957" name=""/>
            <p:cNvGrpSpPr/>
            <p:nvPr/>
          </p:nvGrpSpPr>
          <p:grpSpPr bwMode="auto">
            <a:xfrm>
              <a:off x="8656065" y="0"/>
              <a:ext cx="2540079" cy="1881987"/>
              <a:chOff x="0" y="0"/>
              <a:chExt cx="2540079" cy="1881987"/>
            </a:xfrm>
          </p:grpSpPr>
          <p:sp>
            <p:nvSpPr>
              <p:cNvPr id="742538961" name=""/>
              <p:cNvSpPr/>
              <p:nvPr/>
            </p:nvSpPr>
            <p:spPr bwMode="auto">
              <a:xfrm rot="0" flipH="0" flipV="0">
                <a:off x="0" y="0"/>
                <a:ext cx="2540079" cy="1881988"/>
              </a:xfrm>
              <a:prstGeom prst="flowChartAlternateProcess">
                <a:avLst/>
              </a:prstGeom>
              <a:solidFill>
                <a:srgbClr val="1E293B"/>
              </a:solidFill>
              <a:ln w="19050" cap="flat" cmpd="sng" algn="ctr">
                <a:solidFill>
                  <a:srgbClr val="0E2F4B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algn="ctr">
                  <a:defRPr/>
                </a:pPr>
                <a:endParaRPr b="1">
                  <a:solidFill>
                    <a:schemeClr val="bg1">
                      <a:lumMod val="75000"/>
                    </a:schemeClr>
                  </a:solidFill>
                  <a:latin typeface="JetBrainsMono NF"/>
                  <a:cs typeface="JetBrainsMono NF"/>
                </a:endParaRPr>
              </a:p>
            </p:txBody>
          </p:sp>
          <p:sp>
            <p:nvSpPr>
              <p:cNvPr id="827285953" name=""/>
              <p:cNvSpPr txBox="1"/>
              <p:nvPr/>
            </p:nvSpPr>
            <p:spPr bwMode="auto">
              <a:xfrm rot="0" flipH="0" flipV="0">
                <a:off x="113004" y="270253"/>
                <a:ext cx="2354025" cy="1280520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sz="1200" b="1">
                    <a:solidFill>
                      <a:srgbClr val="F39119"/>
                    </a:solidFill>
                    <a:latin typeface="Poppins"/>
                    <a:ea typeface="Poppins"/>
                    <a:cs typeface="Poppins"/>
                  </a:rPr>
                  <a:t>FASE 04</a:t>
                </a:r>
                <a:endParaRPr b="1">
                  <a:solidFill>
                    <a:srgbClr val="F39119"/>
                  </a:solidFill>
                  <a:latin typeface="Poppins"/>
                  <a:ea typeface="Poppins"/>
                  <a:cs typeface="Poppins"/>
                </a:endParaRPr>
              </a:p>
              <a:p>
                <a:pPr>
                  <a:defRPr/>
                </a:pPr>
                <a:endParaRPr b="1">
                  <a:solidFill>
                    <a:srgbClr val="F39119"/>
                  </a:solidFill>
                  <a:latin typeface="Poppins"/>
                  <a:ea typeface="Poppins"/>
                  <a:cs typeface="Poppins"/>
                </a:endParaRPr>
              </a:p>
              <a:p>
                <a:pPr>
                  <a:defRPr/>
                </a:pPr>
                <a:r>
                  <a:rPr lang="it-IT" sz="1200" b="1" i="0" u="none" strike="noStrike" cap="none" spc="0">
                    <a:solidFill>
                      <a:schemeClr val="bg1"/>
                    </a:solidFill>
                    <a:latin typeface="Poppins"/>
                    <a:ea typeface="Poppins"/>
                    <a:cs typeface="Poppins"/>
                  </a:rPr>
                  <a:t>Sign Inputs</a:t>
                </a:r>
                <a:endParaRPr lang="it-IT" sz="1200" b="1" i="0" u="none" strike="noStrike" cap="none" spc="0">
                  <a:solidFill>
                    <a:schemeClr val="bg1"/>
                  </a:solidFill>
                  <a:latin typeface="Times New Roman"/>
                  <a:cs typeface="Times New Roman"/>
                </a:endParaRPr>
              </a:p>
              <a:p>
                <a:pPr>
                  <a:defRPr/>
                </a:pPr>
                <a:endParaRPr sz="1000" b="0">
                  <a:solidFill>
                    <a:schemeClr val="bg1">
                      <a:lumMod val="75000"/>
                    </a:schemeClr>
                  </a:solidFill>
                  <a:latin typeface="Adwaita Sans"/>
                  <a:cs typeface="Adwaita Sans"/>
                </a:endParaRPr>
              </a:p>
              <a:p>
                <a:pPr>
                  <a:defRPr/>
                </a:pPr>
                <a:r>
                  <a:rPr sz="1000" b="0">
                    <a:solidFill>
                      <a:schemeClr val="bg1">
                        <a:lumMod val="75000"/>
                      </a:schemeClr>
                    </a:solidFill>
                    <a:latin typeface="Adwaita Sans"/>
                    <a:cs typeface="Adwaita Sans"/>
                  </a:rPr>
                  <a:t>Viene calcolato il SigHash e generate le firme ECDSA per ciascun input.</a:t>
                </a:r>
                <a:endParaRPr sz="1000" b="0">
                  <a:solidFill>
                    <a:schemeClr val="bg1">
                      <a:lumMod val="75000"/>
                    </a:schemeClr>
                  </a:solidFill>
                  <a:latin typeface="Adwaita Sans"/>
                  <a:cs typeface="Adwaita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25170285" name="Google Shape;221;p19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2471548" name="Google Shape;223;p19"/>
          <p:cNvSpPr txBox="1"/>
          <p:nvPr/>
        </p:nvSpPr>
        <p:spPr bwMode="auto">
          <a:xfrm>
            <a:off x="847725" y="466725"/>
            <a:ext cx="1134427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Il Problema della Coin Selection</a:t>
            </a:r>
            <a:endParaRPr/>
          </a:p>
        </p:txBody>
      </p:sp>
      <p:pic>
        <p:nvPicPr>
          <p:cNvPr id="1028683013" name="Google Shape;225;p19" descr="image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466725" y="576262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9559053" name="Google Shape;226;p19"/>
          <p:cNvSpPr txBox="1"/>
          <p:nvPr/>
        </p:nvSpPr>
        <p:spPr bwMode="auto">
          <a:xfrm>
            <a:off x="466725" y="2386012"/>
            <a:ext cx="575071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Perché non è un problema banale?</a:t>
            </a:r>
            <a:endParaRPr/>
          </a:p>
        </p:txBody>
      </p:sp>
      <p:sp>
        <p:nvSpPr>
          <p:cNvPr id="949908397" name="Google Shape;227;p19"/>
          <p:cNvSpPr txBox="1"/>
          <p:nvPr/>
        </p:nvSpPr>
        <p:spPr bwMode="auto">
          <a:xfrm>
            <a:off x="466725" y="2805112"/>
            <a:ext cx="54768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Selezionare quali UTXO spendere è un problema equivalente al </a:t>
            </a:r>
            <a:r>
              <a:rPr lang="en-US" sz="11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Knapsack Problem (NP-Hard)</a:t>
            </a:r>
            <a:r>
              <a:rPr lang="en-US" sz="11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.</a:t>
            </a:r>
            <a:endParaRPr/>
          </a:p>
        </p:txBody>
      </p:sp>
      <p:sp>
        <p:nvSpPr>
          <p:cNvPr id="1630752727" name=""/>
          <p:cNvSpPr txBox="1"/>
          <p:nvPr/>
        </p:nvSpPr>
        <p:spPr bwMode="auto">
          <a:xfrm rot="0" flipH="0" flipV="0">
            <a:off x="466723" y="3617960"/>
            <a:ext cx="5366085" cy="17377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39820" marR="0" indent="-239820" algn="l" defTabSz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Wingdings"/>
              <a:buChar char="ü"/>
              <a:defRPr/>
            </a:pPr>
            <a:r>
              <a:rPr sz="1200" b="1" i="0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Commissioni: </a:t>
            </a:r>
            <a:r>
              <a:rPr sz="1200" b="0" i="0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Più input, più grande sarà la transazione in vByte, più commissioni.</a:t>
            </a:r>
            <a:endParaRPr sz="1200" b="0" i="0" strike="noStrike" cap="none" spc="0">
              <a:solidFill>
                <a:schemeClr val="bg1"/>
              </a:solidFill>
              <a:latin typeface="Adwaita Sans"/>
              <a:cs typeface="Adwaita Sans"/>
            </a:endParaRPr>
          </a:p>
          <a:p>
            <a:pPr marL="239820" marR="0" indent="-239820" algn="l" defTabSz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Wingdings"/>
              <a:buChar char="ü"/>
              <a:defRPr/>
            </a:pPr>
            <a:r>
              <a:rPr sz="1200" b="1" i="0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Dust Avoidance: </a:t>
            </a:r>
            <a:r>
              <a:rPr sz="1200" b="0" i="0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 Evitare di creare output di resto con valore inferiore al costo della fee per spenderli.</a:t>
            </a:r>
            <a:endParaRPr sz="1200" b="0" i="0" strike="noStrike" cap="none" spc="0">
              <a:solidFill>
                <a:schemeClr val="bg1"/>
              </a:solidFill>
              <a:latin typeface="Adwaita Sans"/>
              <a:cs typeface="Adwaita Sans"/>
            </a:endParaRPr>
          </a:p>
          <a:p>
            <a:pPr marL="239820" marR="0" indent="-239820" algn="l" defTabSz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Wingdings"/>
              <a:buChar char="ü"/>
              <a:defRPr/>
            </a:pPr>
            <a:r>
              <a:rPr sz="1200" b="1" i="0" u="none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Privacy:</a:t>
            </a:r>
            <a:r>
              <a:rPr sz="1200" b="0" i="0" u="none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 Unire troppi UTXO collega indirizzi diversi allo stesso proprietario.</a:t>
            </a:r>
            <a:endParaRPr sz="1200" b="0" u="none" strike="noStrike" cap="none" spc="0">
              <a:solidFill>
                <a:schemeClr val="bg1"/>
              </a:solidFill>
              <a:latin typeface="Adwaita Sans"/>
              <a:cs typeface="Adwaita Sans"/>
            </a:endParaRPr>
          </a:p>
        </p:txBody>
      </p:sp>
      <p:pic>
        <p:nvPicPr>
          <p:cNvPr id="1187041701" name=""/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 bwMode="auto">
          <a:xfrm flipH="0" flipV="0">
            <a:off x="6781799" y="1716748"/>
            <a:ext cx="3802424" cy="38024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88258940" name="Google Shape;221;p19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0" y="-14288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4315548" name="Google Shape;223;p19"/>
          <p:cNvSpPr txBox="1"/>
          <p:nvPr/>
        </p:nvSpPr>
        <p:spPr bwMode="auto">
          <a:xfrm>
            <a:off x="847724" y="466724"/>
            <a:ext cx="11344274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Il Problema della Coin Selection</a:t>
            </a:r>
            <a:endParaRPr/>
          </a:p>
        </p:txBody>
      </p:sp>
      <p:pic>
        <p:nvPicPr>
          <p:cNvPr id="2003649503" name="Google Shape;225;p19" descr="image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466724" y="576261"/>
            <a:ext cx="266699" cy="2666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40176391" name=""/>
          <p:cNvGrpSpPr/>
          <p:nvPr/>
        </p:nvGrpSpPr>
        <p:grpSpPr bwMode="auto">
          <a:xfrm>
            <a:off x="3255426" y="1003987"/>
            <a:ext cx="5916972" cy="5575394"/>
            <a:chOff x="0" y="0"/>
            <a:chExt cx="5916972" cy="5575394"/>
          </a:xfrm>
        </p:grpSpPr>
        <p:pic>
          <p:nvPicPr>
            <p:cNvPr id="1759747771" name="Google Shape;222;p19" descr="image.png"/>
            <p:cNvPicPr/>
            <p:nvPr/>
          </p:nvPicPr>
          <p:blipFill rotWithShape="1">
            <a:blip r:embed="rId5">
              <a:alphaModFix/>
            </a:blip>
            <a:srcRect l="0" t="0" r="0" b="0"/>
            <a:stretch/>
          </p:blipFill>
          <p:spPr bwMode="auto">
            <a:xfrm flipH="0" flipV="0">
              <a:off x="0" y="0"/>
              <a:ext cx="5916973" cy="55677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5673789" name=""/>
            <p:cNvSpPr txBox="1"/>
            <p:nvPr/>
          </p:nvSpPr>
          <p:spPr bwMode="auto">
            <a:xfrm rot="0" flipH="0" flipV="0">
              <a:off x="125451" y="484875"/>
              <a:ext cx="5761827" cy="509051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algn="l">
                <a:defRPr/>
              </a:pPr>
              <a:r>
                <a:rPr sz="800">
                  <a:solidFill>
                    <a:srgbClr val="DB4A0B"/>
                  </a:solidFill>
                  <a:latin typeface="JetBrainsMono NF"/>
                  <a:ea typeface="JetBrainsMono NF"/>
                  <a:cs typeface="JetBrainsMono NF"/>
                </a:rPr>
                <a:t>function </a:t>
              </a: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SelectInputs(UTXO_Pool, TargetAmount, FeeRate):</a:t>
              </a:r>
              <a:endParaRPr sz="800">
                <a:solidFill>
                  <a:schemeClr val="bg1"/>
                </a:solidFill>
                <a:latin typeface="JetBrainsMono NF"/>
                <a:cs typeface="JetBrainsMono NF"/>
              </a:endParaRPr>
            </a:p>
            <a:p>
              <a:pPr algn="l">
                <a:defRPr/>
              </a:pP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    SortDescendingByValue(UTXO_Pool)</a:t>
              </a:r>
              <a:endParaRPr sz="800">
                <a:solidFill>
                  <a:schemeClr val="bg1"/>
                </a:solidFill>
                <a:latin typeface="JetBrainsMono NF"/>
                <a:cs typeface="JetBrainsMono NF"/>
              </a:endParaRPr>
            </a:p>
            <a:p>
              <a:pPr algn="l">
                <a:defRPr/>
              </a:pP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    </a:t>
              </a:r>
              <a:endParaRPr sz="800">
                <a:solidFill>
                  <a:schemeClr val="bg1"/>
                </a:solidFill>
                <a:latin typeface="JetBrainsMono NF"/>
                <a:cs typeface="JetBrainsMono NF"/>
              </a:endParaRPr>
            </a:p>
            <a:p>
              <a:pPr algn="l">
                <a:defRPr/>
              </a:pP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    BaseSize       &lt;- 44   </a:t>
              </a:r>
              <a:r>
                <a:rPr sz="800">
                  <a:solidFill>
                    <a:schemeClr val="bg1">
                      <a:lumMod val="50000"/>
                    </a:schemeClr>
                  </a:solidFill>
                  <a:latin typeface="JetBrainsMono NF"/>
                  <a:ea typeface="JetBrainsMono NF"/>
                  <a:cs typeface="JetBrainsMono NF"/>
                </a:rPr>
                <a:t># 10 B (Header) + 34 B (Dest. Output)</a:t>
              </a:r>
              <a:endParaRPr sz="800">
                <a:solidFill>
                  <a:schemeClr val="bg1">
                    <a:lumMod val="50000"/>
                  </a:schemeClr>
                </a:solidFill>
                <a:latin typeface="JetBrainsMono NF"/>
                <a:cs typeface="JetBrainsMono NF"/>
              </a:endParaRPr>
            </a:p>
            <a:p>
              <a:pPr algn="l">
                <a:defRPr/>
              </a:pP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    Accumulated    &lt;- 0</a:t>
              </a:r>
              <a:endParaRPr sz="80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endParaRPr>
            </a:p>
            <a:p>
              <a:pPr algn="l">
                <a:defRPr/>
              </a:pP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    CountLegacy    &lt;- 0</a:t>
              </a:r>
              <a:endParaRPr sz="80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endParaRPr>
            </a:p>
            <a:p>
              <a:pPr algn="l">
                <a:defRPr/>
              </a:pP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    CountSegwit    &lt;- 0</a:t>
              </a:r>
              <a:endParaRPr sz="800">
                <a:solidFill>
                  <a:schemeClr val="bg1"/>
                </a:solidFill>
                <a:latin typeface="JetBrainsMono NF"/>
                <a:cs typeface="JetBrainsMono NF"/>
              </a:endParaRPr>
            </a:p>
            <a:p>
              <a:pPr algn="l">
                <a:defRPr/>
              </a:pP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    SelectedInputs &lt;- []</a:t>
              </a:r>
              <a:endParaRPr sz="800">
                <a:solidFill>
                  <a:schemeClr val="bg1"/>
                </a:solidFill>
                <a:latin typeface="JetBrainsMono NF"/>
                <a:cs typeface="JetBrainsMono NF"/>
              </a:endParaRPr>
            </a:p>
            <a:p>
              <a:pPr algn="l">
                <a:defRPr/>
              </a:pP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    </a:t>
              </a:r>
              <a:endParaRPr sz="800">
                <a:solidFill>
                  <a:schemeClr val="bg1"/>
                </a:solidFill>
                <a:latin typeface="JetBrainsMono NF"/>
                <a:cs typeface="JetBrainsMono NF"/>
              </a:endParaRPr>
            </a:p>
            <a:p>
              <a:pPr algn="l">
                <a:defRPr/>
              </a:pP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    </a:t>
              </a:r>
              <a:r>
                <a:rPr sz="800">
                  <a:solidFill>
                    <a:srgbClr val="DB4A0B"/>
                  </a:solidFill>
                  <a:latin typeface="JetBrainsMono NF"/>
                  <a:ea typeface="JetBrainsMono NF"/>
                  <a:cs typeface="JetBrainsMono NF"/>
                </a:rPr>
                <a:t>for </a:t>
              </a:r>
              <a:r>
                <a:rPr sz="800">
                  <a:solidFill>
                    <a:srgbClr val="DB4A0B"/>
                  </a:solidFill>
                  <a:latin typeface="JetBrainsMono NF"/>
                  <a:ea typeface="JetBrainsMono NF"/>
                  <a:cs typeface="JetBrainsMono NF"/>
                </a:rPr>
                <a:t>each</a:t>
              </a:r>
              <a:r>
                <a:rPr sz="800">
                  <a:solidFill>
                    <a:srgbClr val="DB4A0B"/>
                  </a:solidFill>
                  <a:latin typeface="JetBrainsMono NF"/>
                  <a:ea typeface="JetBrainsMono NF"/>
                  <a:cs typeface="JetBrainsMono NF"/>
                </a:rPr>
                <a:t> </a:t>
              </a: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UTXO </a:t>
              </a:r>
              <a:r>
                <a:rPr sz="800">
                  <a:solidFill>
                    <a:srgbClr val="DB4A0B"/>
                  </a:solidFill>
                  <a:latin typeface="JetBrainsMono NF"/>
                  <a:ea typeface="JetBrainsMono NF"/>
                  <a:cs typeface="JetBrainsMono NF"/>
                </a:rPr>
                <a:t>in </a:t>
              </a: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UTXO_Pool:</a:t>
              </a:r>
              <a:endParaRPr sz="800">
                <a:solidFill>
                  <a:schemeClr val="bg1"/>
                </a:solidFill>
                <a:latin typeface="JetBrainsMono NF"/>
                <a:cs typeface="JetBrainsMono NF"/>
              </a:endParaRPr>
            </a:p>
            <a:p>
              <a:pPr algn="l">
                <a:defRPr/>
              </a:pP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        Accumulated += UTXO.value</a:t>
              </a:r>
              <a:endParaRPr sz="800">
                <a:solidFill>
                  <a:schemeClr val="bg1"/>
                </a:solidFill>
                <a:latin typeface="JetBrainsMono NF"/>
                <a:cs typeface="JetBrainsMono NF"/>
              </a:endParaRPr>
            </a:p>
            <a:p>
              <a:pPr algn="l">
                <a:defRPr/>
              </a:pP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        SelectedInputs.append(UTXO)</a:t>
              </a:r>
              <a:endParaRPr sz="800">
                <a:solidFill>
                  <a:schemeClr val="bg1"/>
                </a:solidFill>
                <a:latin typeface="JetBrainsMono NF"/>
                <a:cs typeface="JetBrainsMono NF"/>
              </a:endParaRPr>
            </a:p>
            <a:p>
              <a:pPr algn="l">
                <a:defRPr/>
              </a:pP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        </a:t>
              </a:r>
              <a:endParaRPr sz="800">
                <a:solidFill>
                  <a:schemeClr val="bg1"/>
                </a:solidFill>
                <a:latin typeface="JetBrainsMono NF"/>
                <a:cs typeface="JetBrainsMono NF"/>
              </a:endParaRPr>
            </a:p>
            <a:p>
              <a:pPr algn="l">
                <a:defRPr/>
              </a:pPr>
              <a:r>
                <a:rPr sz="800">
                  <a:solidFill>
                    <a:schemeClr val="bg1"/>
                  </a:solidFill>
                  <a:latin typeface="JetBrainsMono NF"/>
                  <a:cs typeface="JetBrainsMono NF"/>
                </a:rPr>
                <a:t>        </a:t>
              </a:r>
              <a:r>
                <a:rPr sz="800">
                  <a:solidFill>
                    <a:srgbClr val="DB4A0B"/>
                  </a:solidFill>
                  <a:latin typeface="JetBrainsMono NF"/>
                  <a:cs typeface="JetBrainsMono NF"/>
                </a:rPr>
                <a:t>if </a:t>
              </a:r>
              <a:r>
                <a:rPr sz="800">
                  <a:solidFill>
                    <a:schemeClr val="bg1"/>
                  </a:solidFill>
                  <a:latin typeface="JetBrainsMono NF"/>
                  <a:cs typeface="JetBrainsMono NF"/>
                </a:rPr>
                <a:t>IsSegwit(UTXO):</a:t>
              </a:r>
              <a:endParaRPr sz="800">
                <a:solidFill>
                  <a:schemeClr val="bg1"/>
                </a:solidFill>
                <a:latin typeface="JetBrainsMono NF"/>
                <a:cs typeface="JetBrainsMono NF"/>
              </a:endParaRPr>
            </a:p>
            <a:p>
              <a:pPr algn="l">
                <a:defRPr/>
              </a:pPr>
              <a:r>
                <a:rPr sz="800">
                  <a:solidFill>
                    <a:schemeClr val="bg1"/>
                  </a:solidFill>
                  <a:latin typeface="JetBrainsMono NF"/>
                  <a:cs typeface="JetBrainsMono NF"/>
                </a:rPr>
                <a:t>	CountSegwit++</a:t>
              </a:r>
              <a:endParaRPr sz="800">
                <a:solidFill>
                  <a:schemeClr val="bg1"/>
                </a:solidFill>
                <a:latin typeface="JetBrainsMono NF"/>
                <a:cs typeface="JetBrainsMono NF"/>
              </a:endParaRPr>
            </a:p>
            <a:p>
              <a:pPr algn="l">
                <a:defRPr/>
              </a:pPr>
              <a:r>
                <a:rPr sz="800">
                  <a:solidFill>
                    <a:schemeClr val="bg1"/>
                  </a:solidFill>
                  <a:latin typeface="JetBrainsMono NF"/>
                  <a:cs typeface="JetBrainsMono NF"/>
                </a:rPr>
                <a:t>        </a:t>
              </a:r>
              <a:r>
                <a:rPr sz="800">
                  <a:solidFill>
                    <a:srgbClr val="DB4A0B"/>
                  </a:solidFill>
                  <a:latin typeface="JetBrainsMono NF"/>
                  <a:cs typeface="JetBrainsMono NF"/>
                </a:rPr>
                <a:t>else</a:t>
              </a:r>
              <a:endParaRPr sz="800">
                <a:solidFill>
                  <a:srgbClr val="9E3F19"/>
                </a:solidFill>
                <a:latin typeface="JetBrainsMono NF"/>
                <a:cs typeface="JetBrainsMono NF"/>
              </a:endParaRPr>
            </a:p>
            <a:p>
              <a:pPr algn="l">
                <a:defRPr/>
              </a:pPr>
              <a:r>
                <a:rPr sz="800">
                  <a:solidFill>
                    <a:schemeClr val="bg1"/>
                  </a:solidFill>
                  <a:latin typeface="JetBrainsMono NF"/>
                  <a:cs typeface="JetBrainsMono NF"/>
                </a:rPr>
                <a:t>	CountLegacy++</a:t>
              </a:r>
              <a:endParaRPr sz="800">
                <a:solidFill>
                  <a:schemeClr val="bg1"/>
                </a:solidFill>
                <a:latin typeface="JetBrainsMono NF"/>
                <a:cs typeface="JetBrainsMono NF"/>
              </a:endParaRPr>
            </a:p>
            <a:p>
              <a:pPr algn="l">
                <a:defRPr/>
              </a:pPr>
              <a:endParaRPr sz="800">
                <a:solidFill>
                  <a:schemeClr val="bg1"/>
                </a:solidFill>
                <a:latin typeface="JetBrainsMono NF"/>
                <a:cs typeface="JetBrainsMono NF"/>
              </a:endParaRPr>
            </a:p>
            <a:p>
              <a:pPr algn="l">
                <a:defRPr/>
              </a:pPr>
              <a:r>
                <a:rPr sz="800">
                  <a:solidFill>
                    <a:schemeClr val="bg1"/>
                  </a:solidFill>
                  <a:latin typeface="JetBrainsMono NF"/>
                  <a:cs typeface="JetBrainsMono NF"/>
                </a:rPr>
                <a:t>        </a:t>
              </a:r>
              <a:r>
                <a:rPr lang="it-IT" sz="800" b="0" i="0" u="none" strike="noStrike" cap="none" spc="0">
                  <a:solidFill>
                    <a:schemeClr val="bg1">
                      <a:lumMod val="50000"/>
                    </a:schemeClr>
                  </a:solidFill>
                  <a:latin typeface="JetBrainsMono NF"/>
                  <a:ea typeface="JetBrainsMono NF"/>
                  <a:cs typeface="JetBrainsMono NF"/>
                </a:rPr>
                <a:t># 148 B per P2PKH input</a:t>
              </a:r>
              <a:r>
                <a:rPr sz="800">
                  <a:solidFill>
                    <a:schemeClr val="bg1">
                      <a:lumMod val="50000"/>
                    </a:schemeClr>
                  </a:solidFill>
                  <a:latin typeface="JetBrainsMono NF"/>
                  <a:cs typeface="JetBrainsMono NF"/>
                </a:rPr>
                <a:t> + 68 B per P2WPKH input</a:t>
              </a:r>
              <a:endParaRPr sz="800">
                <a:solidFill>
                  <a:schemeClr val="bg1"/>
                </a:solidFill>
                <a:latin typeface="JetBrainsMono NF"/>
                <a:cs typeface="JetBrainsMono NF"/>
              </a:endParaRPr>
            </a:p>
            <a:p>
              <a:pPr algn="l">
                <a:defRPr/>
              </a:pP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        EstimatedSize &lt;- BaseSize + (</a:t>
              </a: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CountLegacy * 148) + (CountSegwit * 68) </a:t>
              </a:r>
              <a:r>
                <a:rPr sz="800">
                  <a:solidFill>
                    <a:schemeClr val="bg1">
                      <a:lumMod val="50000"/>
                    </a:schemeClr>
                  </a:solidFill>
                  <a:latin typeface="JetBrainsMono NF"/>
                  <a:ea typeface="JetBrainsMono NF"/>
                  <a:cs typeface="JetBrainsMono NF"/>
                </a:rPr>
                <a:t> </a:t>
              </a:r>
              <a:endParaRPr sz="800">
                <a:solidFill>
                  <a:schemeClr val="bg1">
                    <a:lumMod val="50000"/>
                  </a:schemeClr>
                </a:solidFill>
                <a:latin typeface="JetBrainsMono NF"/>
                <a:ea typeface="JetBrainsMono NF"/>
                <a:cs typeface="JetBrainsMono NF"/>
              </a:endParaRPr>
            </a:p>
            <a:p>
              <a:pPr algn="l">
                <a:defRPr/>
              </a:pP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        EstimatedFee  &lt;- EstimatedSize * FeeRate</a:t>
              </a:r>
              <a:endParaRPr sz="800">
                <a:solidFill>
                  <a:schemeClr val="bg1"/>
                </a:solidFill>
                <a:latin typeface="JetBrainsMono NF"/>
                <a:cs typeface="JetBrainsMono NF"/>
              </a:endParaRPr>
            </a:p>
            <a:p>
              <a:pPr algn="l">
                <a:defRPr/>
              </a:pP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        </a:t>
              </a:r>
              <a:endParaRPr sz="800">
                <a:solidFill>
                  <a:srgbClr val="00B0F0"/>
                </a:solidFill>
                <a:latin typeface="JetBrainsMono NF"/>
                <a:cs typeface="JetBrainsMono NF"/>
              </a:endParaRPr>
            </a:p>
            <a:p>
              <a:pPr algn="l">
                <a:defRPr/>
              </a:pPr>
              <a:r>
                <a:rPr sz="800">
                  <a:solidFill>
                    <a:srgbClr val="00B0F0"/>
                  </a:solidFill>
                  <a:latin typeface="JetBrainsMono NF"/>
                  <a:ea typeface="JetBrainsMono NF"/>
                  <a:cs typeface="JetBrainsMono NF"/>
                </a:rPr>
                <a:t>        </a:t>
              </a:r>
              <a:r>
                <a:rPr sz="800">
                  <a:solidFill>
                    <a:srgbClr val="DB4A0B"/>
                  </a:solidFill>
                  <a:latin typeface="JetBrainsMono NF"/>
                  <a:ea typeface="JetBrainsMono NF"/>
                  <a:cs typeface="JetBrainsMono NF"/>
                </a:rPr>
                <a:t>if</a:t>
              </a:r>
              <a:r>
                <a:rPr sz="800">
                  <a:solidFill>
                    <a:srgbClr val="DB4A0B"/>
                  </a:solidFill>
                  <a:latin typeface="JetBrainsMono NF"/>
                  <a:ea typeface="JetBrainsMono NF"/>
                  <a:cs typeface="JetBrainsMono NF"/>
                </a:rPr>
                <a:t> </a:t>
              </a: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Accumulated &gt;= TargetAmount + EstimatedFee:</a:t>
              </a:r>
              <a:endParaRPr sz="800">
                <a:solidFill>
                  <a:schemeClr val="bg1"/>
                </a:solidFill>
                <a:latin typeface="JetBrainsMono NF"/>
                <a:cs typeface="JetBrainsMono NF"/>
              </a:endParaRPr>
            </a:p>
            <a:p>
              <a:pPr algn="l">
                <a:defRPr/>
              </a:pP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            Change &lt;- Accumulated - TargetAmount - EstimatedFee</a:t>
              </a:r>
              <a:endParaRPr sz="800">
                <a:solidFill>
                  <a:schemeClr val="bg1"/>
                </a:solidFill>
                <a:latin typeface="JetBrainsMono NF"/>
                <a:cs typeface="JetBrainsMono NF"/>
              </a:endParaRPr>
            </a:p>
            <a:p>
              <a:pPr algn="l">
                <a:defRPr/>
              </a:pP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            </a:t>
              </a:r>
              <a:endParaRPr sz="800">
                <a:solidFill>
                  <a:schemeClr val="bg1"/>
                </a:solidFill>
                <a:latin typeface="JetBrainsMono NF"/>
                <a:cs typeface="JetBrainsMono NF"/>
              </a:endParaRPr>
            </a:p>
            <a:p>
              <a:pPr algn="l">
                <a:defRPr/>
              </a:pP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            </a:t>
              </a:r>
              <a:r>
                <a:rPr sz="800">
                  <a:solidFill>
                    <a:srgbClr val="DB4A0B"/>
                  </a:solidFill>
                  <a:latin typeface="JetBrainsMono NF"/>
                  <a:ea typeface="JetBrainsMono NF"/>
                  <a:cs typeface="JetBrainsMono NF"/>
                </a:rPr>
                <a:t>if </a:t>
              </a: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Change &gt; 0:</a:t>
              </a:r>
              <a:endParaRPr sz="800">
                <a:solidFill>
                  <a:schemeClr val="bg1"/>
                </a:solidFill>
                <a:latin typeface="JetBrainsMono NF"/>
                <a:cs typeface="JetBrainsMono NF"/>
              </a:endParaRPr>
            </a:p>
            <a:p>
              <a:pPr algn="l">
                <a:defRPr/>
              </a:pP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                </a:t>
              </a:r>
              <a:r>
                <a:rPr sz="800">
                  <a:solidFill>
                    <a:schemeClr val="bg1">
                      <a:lumMod val="50000"/>
                    </a:schemeClr>
                  </a:solidFill>
                  <a:latin typeface="JetBrainsMono NF"/>
                  <a:ea typeface="JetBrainsMono NF"/>
                  <a:cs typeface="JetBrainsMono NF"/>
                </a:rPr>
                <a:t># Aggiunta del Change Output (34 B) e ricalcolo fee</a:t>
              </a:r>
              <a:endParaRPr sz="800">
                <a:solidFill>
                  <a:schemeClr val="bg1">
                    <a:lumMod val="50000"/>
                  </a:schemeClr>
                </a:solidFill>
                <a:latin typeface="JetBrainsMono NF"/>
                <a:cs typeface="JetBrainsMono NF"/>
              </a:endParaRPr>
            </a:p>
            <a:p>
              <a:pPr algn="l">
                <a:defRPr/>
              </a:pP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                SizeWithChange &lt;- EstimatedSize + 34</a:t>
              </a:r>
              <a:endParaRPr sz="800">
                <a:solidFill>
                  <a:schemeClr val="bg1"/>
                </a:solidFill>
                <a:latin typeface="JetBrainsMono NF"/>
                <a:cs typeface="JetBrainsMono NF"/>
              </a:endParaRPr>
            </a:p>
            <a:p>
              <a:pPr algn="l">
                <a:defRPr/>
              </a:pP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                FeeWithChange  &lt;- SizeWithChange * FeeRate</a:t>
              </a:r>
              <a:endParaRPr sz="800">
                <a:solidFill>
                  <a:schemeClr val="bg1"/>
                </a:solidFill>
                <a:latin typeface="JetBrainsMono NF"/>
                <a:cs typeface="JetBrainsMono NF"/>
              </a:endParaRPr>
            </a:p>
            <a:p>
              <a:pPr algn="l">
                <a:defRPr/>
              </a:pP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                NewChange      &lt;- Accumulated - TargetAmount - FeeWithChange</a:t>
              </a:r>
              <a:endParaRPr sz="800">
                <a:solidFill>
                  <a:schemeClr val="bg1"/>
                </a:solidFill>
                <a:latin typeface="JetBrainsMono NF"/>
                <a:cs typeface="JetBrainsMono NF"/>
              </a:endParaRPr>
            </a:p>
            <a:p>
              <a:pPr algn="l">
                <a:defRPr/>
              </a:pP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                </a:t>
              </a:r>
              <a:endParaRPr sz="800">
                <a:solidFill>
                  <a:schemeClr val="bg1"/>
                </a:solidFill>
                <a:latin typeface="JetBrainsMono NF"/>
                <a:cs typeface="JetBrainsMono NF"/>
              </a:endParaRPr>
            </a:p>
            <a:p>
              <a:pPr algn="l">
                <a:defRPr/>
              </a:pP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                </a:t>
              </a:r>
              <a:r>
                <a:rPr sz="800">
                  <a:solidFill>
                    <a:srgbClr val="DB4A0B"/>
                  </a:solidFill>
                  <a:latin typeface="JetBrainsMono NF"/>
                  <a:ea typeface="JetBrainsMono NF"/>
                  <a:cs typeface="JetBrainsMono NF"/>
                </a:rPr>
                <a:t>if </a:t>
              </a: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NewChange &gt;= 0:</a:t>
              </a:r>
              <a:endParaRPr sz="800">
                <a:solidFill>
                  <a:schemeClr val="bg1"/>
                </a:solidFill>
                <a:latin typeface="JetBrainsMono NF"/>
                <a:cs typeface="JetBrainsMono NF"/>
              </a:endParaRPr>
            </a:p>
            <a:p>
              <a:pPr algn="l">
                <a:defRPr/>
              </a:pP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                    EstimatedFee &lt;- FeeWithChange</a:t>
              </a:r>
              <a:endParaRPr sz="800">
                <a:solidFill>
                  <a:schemeClr val="bg1"/>
                </a:solidFill>
                <a:latin typeface="JetBrainsMono NF"/>
                <a:cs typeface="JetBrainsMono NF"/>
              </a:endParaRPr>
            </a:p>
            <a:p>
              <a:pPr algn="l">
                <a:defRPr/>
              </a:pP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                    Change       &lt;- NewChange</a:t>
              </a:r>
              <a:endParaRPr sz="800">
                <a:solidFill>
                  <a:schemeClr val="bg1"/>
                </a:solidFill>
                <a:latin typeface="JetBrainsMono NF"/>
                <a:cs typeface="JetBrainsMono NF"/>
              </a:endParaRPr>
            </a:p>
            <a:p>
              <a:pPr algn="l">
                <a:defRPr/>
              </a:pP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                </a:t>
              </a:r>
              <a:r>
                <a:rPr sz="800">
                  <a:solidFill>
                    <a:srgbClr val="DB4A0B"/>
                  </a:solidFill>
                  <a:latin typeface="JetBrainsMono NF"/>
                  <a:ea typeface="JetBrainsMono NF"/>
                  <a:cs typeface="JetBrainsMono NF"/>
                </a:rPr>
                <a:t>else</a:t>
              </a: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:</a:t>
              </a:r>
              <a:r>
                <a:rPr sz="800">
                  <a:solidFill>
                    <a:schemeClr val="bg1"/>
                  </a:solidFill>
                  <a:latin typeface="JetBrainsMono NF"/>
                  <a:cs typeface="JetBrainsMono NF"/>
                </a:rPr>
                <a:t> </a:t>
              </a:r>
              <a:r>
                <a:rPr sz="800">
                  <a:solidFill>
                    <a:schemeClr val="bg1">
                      <a:lumMod val="50000"/>
                    </a:schemeClr>
                  </a:solidFill>
                  <a:latin typeface="JetBrainsMono NF"/>
                  <a:cs typeface="JetBrainsMono NF"/>
                </a:rPr>
                <a:t># NewChange &lt; 0, non ho abbastanza resto per coprire l’output di 			       resto, rimane ai miner</a:t>
              </a:r>
              <a:endParaRPr sz="800">
                <a:solidFill>
                  <a:schemeClr val="bg1"/>
                </a:solidFill>
                <a:latin typeface="JetBrainsMono NF"/>
                <a:cs typeface="JetBrainsMono NF"/>
              </a:endParaRPr>
            </a:p>
            <a:p>
              <a:pPr algn="l">
                <a:defRPr/>
              </a:pP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                    Change &lt;- 0 </a:t>
              </a:r>
              <a:endParaRPr sz="800">
                <a:solidFill>
                  <a:schemeClr val="bg1"/>
                </a:solidFill>
                <a:latin typeface="JetBrainsMono NF"/>
                <a:cs typeface="JetBrainsMono NF"/>
              </a:endParaRPr>
            </a:p>
            <a:p>
              <a:pPr algn="l">
                <a:defRPr/>
              </a:pP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            </a:t>
              </a:r>
              <a:endParaRPr sz="800">
                <a:solidFill>
                  <a:schemeClr val="bg1"/>
                </a:solidFill>
                <a:latin typeface="JetBrainsMono NF"/>
                <a:cs typeface="JetBrainsMono NF"/>
              </a:endParaRPr>
            </a:p>
            <a:p>
              <a:pPr algn="l">
                <a:defRPr/>
              </a:pP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            </a:t>
              </a:r>
              <a:r>
                <a:rPr sz="800">
                  <a:solidFill>
                    <a:srgbClr val="DB4A0B"/>
                  </a:solidFill>
                  <a:latin typeface="JetBrainsMono NF"/>
                  <a:ea typeface="JetBrainsMono NF"/>
                  <a:cs typeface="JetBrainsMono NF"/>
                </a:rPr>
                <a:t>return </a:t>
              </a: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SelectedInputs, EstimatedFee, Change</a:t>
              </a:r>
              <a:endParaRPr sz="800">
                <a:solidFill>
                  <a:schemeClr val="bg1"/>
                </a:solidFill>
                <a:latin typeface="JetBrainsMono NF"/>
                <a:cs typeface="JetBrainsMono NF"/>
              </a:endParaRPr>
            </a:p>
            <a:p>
              <a:pPr algn="l">
                <a:defRPr/>
              </a:pPr>
              <a:endParaRPr sz="800">
                <a:solidFill>
                  <a:schemeClr val="bg1"/>
                </a:solidFill>
                <a:latin typeface="JetBrainsMono NF"/>
                <a:cs typeface="JetBrainsMono NF"/>
              </a:endParaRPr>
            </a:p>
            <a:p>
              <a:pPr algn="l">
                <a:defRPr/>
              </a:pP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    </a:t>
              </a:r>
              <a:r>
                <a:rPr sz="800">
                  <a:solidFill>
                    <a:srgbClr val="DB4A0B"/>
                  </a:solidFill>
                  <a:latin typeface="JetBrainsMono NF"/>
                  <a:ea typeface="JetBrainsMono NF"/>
                  <a:cs typeface="JetBrainsMono NF"/>
                </a:rPr>
                <a:t>raise </a:t>
              </a:r>
              <a:r>
                <a:rPr sz="800">
                  <a:solidFill>
                    <a:srgbClr val="00B0F0"/>
                  </a:solidFill>
                  <a:latin typeface="JetBrainsMono NF"/>
                  <a:ea typeface="JetBrainsMono NF"/>
                  <a:cs typeface="JetBrainsMono NF"/>
                </a:rPr>
                <a:t>Error</a:t>
              </a: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(</a:t>
              </a:r>
              <a:r>
                <a:rPr sz="800">
                  <a:solidFill>
                    <a:srgbClr val="00B050"/>
                  </a:solidFill>
                  <a:latin typeface="JetBrainsMono NF"/>
                  <a:ea typeface="JetBrainsMono NF"/>
                  <a:cs typeface="JetBrainsMono NF"/>
                </a:rPr>
                <a:t>"Insufficient Funds"</a:t>
              </a:r>
              <a:r>
                <a:rPr sz="800">
                  <a:solidFill>
                    <a:schemeClr val="bg1"/>
                  </a:solidFill>
                  <a:latin typeface="JetBrainsMono NF"/>
                  <a:ea typeface="JetBrainsMono NF"/>
                  <a:cs typeface="JetBrainsMono NF"/>
                </a:rPr>
                <a:t>)</a:t>
              </a:r>
              <a:endParaRPr sz="800">
                <a:solidFill>
                  <a:schemeClr val="bg1"/>
                </a:solidFill>
                <a:latin typeface="JetBrainsMono NF"/>
                <a:cs typeface="JetBrainsMono NF"/>
              </a:endParaRPr>
            </a:p>
          </p:txBody>
        </p:sp>
        <p:grpSp>
          <p:nvGrpSpPr>
            <p:cNvPr id="2055079592" name=""/>
            <p:cNvGrpSpPr/>
            <p:nvPr/>
          </p:nvGrpSpPr>
          <p:grpSpPr bwMode="auto">
            <a:xfrm>
              <a:off x="188115" y="204786"/>
              <a:ext cx="5251374" cy="228960"/>
              <a:chOff x="0" y="0"/>
              <a:chExt cx="5251374" cy="228960"/>
            </a:xfrm>
          </p:grpSpPr>
          <p:sp>
            <p:nvSpPr>
              <p:cNvPr id="67166888" name="Google Shape;231;p19"/>
              <p:cNvSpPr txBox="1"/>
              <p:nvPr/>
            </p:nvSpPr>
            <p:spPr bwMode="auto">
              <a:xfrm>
                <a:off x="0" y="0"/>
                <a:ext cx="5251375" cy="2289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7145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r>
                  <a:rPr lang="en-US" sz="1500" b="0" i="0" u="none" strike="noStrike" cap="none">
                    <a:solidFill>
                      <a:srgbClr val="FFFFFF"/>
                    </a:solidFill>
                    <a:latin typeface="Poppins SemiBold"/>
                    <a:ea typeface="Poppins SemiBold"/>
                    <a:cs typeface="Poppins SemiBold"/>
                  </a:rPr>
                  <a:t>Algoritmo Greedy Adottato</a:t>
                </a:r>
                <a:endParaRPr/>
              </a:p>
            </p:txBody>
          </p:sp>
          <p:pic>
            <p:nvPicPr>
              <p:cNvPr id="2024239926" name="Google Shape;239;p19" descr="image.png"/>
              <p:cNvPicPr/>
              <p:nvPr/>
            </p:nvPicPr>
            <p:blipFill rotWithShape="1">
              <a:blip r:embed="rId6">
                <a:alphaModFix/>
              </a:blip>
              <a:srcRect l="0" t="0" r="0" b="0"/>
              <a:stretch/>
            </p:blipFill>
            <p:spPr bwMode="auto">
              <a:xfrm>
                <a:off x="0" y="0"/>
                <a:ext cx="171450" cy="19049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8837640" name="Google Shape;204;p18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-27493" y="0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3978533" name="Google Shape;178;p17"/>
          <p:cNvSpPr txBox="1"/>
          <p:nvPr/>
        </p:nvSpPr>
        <p:spPr bwMode="auto">
          <a:xfrm>
            <a:off x="885825" y="557601"/>
            <a:ext cx="11391132" cy="388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it-IT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Transazioni: Esempi (Prima e dopo ottimizzazione algoritmo)</a:t>
            </a:r>
            <a:endParaRPr/>
          </a:p>
        </p:txBody>
      </p:sp>
      <p:pic>
        <p:nvPicPr>
          <p:cNvPr id="1089907511" name="Google Shape;180;p17" descr="image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466723" y="576261"/>
            <a:ext cx="304798" cy="266698"/>
          </a:xfrm>
          <a:prstGeom prst="rect">
            <a:avLst/>
          </a:prstGeom>
          <a:noFill/>
          <a:ln>
            <a:noFill/>
          </a:ln>
        </p:spPr>
      </p:pic>
      <p:sp>
        <p:nvSpPr>
          <p:cNvPr id="271520860" name=""/>
          <p:cNvSpPr txBox="1"/>
          <p:nvPr/>
        </p:nvSpPr>
        <p:spPr bwMode="auto">
          <a:xfrm rot="0" flipH="0" flipV="0">
            <a:off x="640125" y="2186399"/>
            <a:ext cx="8430345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grpSp>
        <p:nvGrpSpPr>
          <p:cNvPr id="409474744" name=""/>
          <p:cNvGrpSpPr/>
          <p:nvPr/>
        </p:nvGrpSpPr>
        <p:grpSpPr bwMode="auto">
          <a:xfrm rot="0" flipH="0" flipV="0">
            <a:off x="439760" y="1317768"/>
            <a:ext cx="4132238" cy="1874870"/>
            <a:chOff x="0" y="0"/>
            <a:chExt cx="4132238" cy="1874870"/>
          </a:xfrm>
        </p:grpSpPr>
        <p:pic>
          <p:nvPicPr>
            <p:cNvPr id="777301220" name="Google Shape;154;p16" descr="image.png"/>
            <p:cNvPicPr/>
            <p:nvPr/>
          </p:nvPicPr>
          <p:blipFill rotWithShape="1">
            <a:blip r:embed="rId5">
              <a:alphaModFix/>
            </a:blip>
            <a:srcRect l="0" t="0" r="0" b="0"/>
            <a:stretch/>
          </p:blipFill>
          <p:spPr bwMode="auto">
            <a:xfrm>
              <a:off x="0" y="0"/>
              <a:ext cx="4132238" cy="18748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04719831" name="Google Shape;163;p16"/>
            <p:cNvSpPr txBox="1"/>
            <p:nvPr/>
          </p:nvSpPr>
          <p:spPr bwMode="auto">
            <a:xfrm flipH="0" flipV="0">
              <a:off x="200363" y="232673"/>
              <a:ext cx="2602115" cy="2289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7145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r>
                <a:rPr lang="it-IT" sz="1500" b="0" i="0" u="none" strike="noStrike" cap="none">
                  <a:solidFill>
                    <a:srgbClr val="F7931A"/>
                  </a:solidFill>
                  <a:latin typeface="Poppins SemiBold"/>
                  <a:ea typeface="Poppins SemiBold"/>
                  <a:cs typeface="Poppins SemiBold"/>
                </a:rPr>
                <a:t>Stima Naive</a:t>
              </a:r>
              <a:endParaRPr/>
            </a:p>
          </p:txBody>
        </p:sp>
      </p:grpSp>
      <p:sp>
        <p:nvSpPr>
          <p:cNvPr id="1242463137" name=""/>
          <p:cNvSpPr txBox="1"/>
          <p:nvPr/>
        </p:nvSpPr>
        <p:spPr bwMode="auto">
          <a:xfrm rot="0" flipH="0" flipV="0">
            <a:off x="619121" y="1977544"/>
            <a:ext cx="3673176" cy="9147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39819" marR="0" indent="-239819" algn="l" defTabSz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Wingdings"/>
              <a:buChar char="ü"/>
              <a:defRPr/>
            </a:pPr>
            <a:r>
              <a:rPr sz="1200" b="0" i="0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Tratta ogni input come P2PKH</a:t>
            </a:r>
            <a:endParaRPr sz="1200" b="0" i="0" strike="noStrike" cap="none" spc="0">
              <a:solidFill>
                <a:schemeClr val="bg1"/>
              </a:solidFill>
              <a:latin typeface="Adwaita Sans"/>
              <a:cs typeface="Adwaita Sans"/>
            </a:endParaRPr>
          </a:p>
          <a:p>
            <a:pPr marL="239819" marR="0" indent="-239819" algn="l" defTabSz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Wingdings"/>
              <a:buChar char="ü"/>
              <a:defRPr/>
            </a:pPr>
            <a:r>
              <a:rPr sz="1200" b="0" i="0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Size = Base + N * 148 B</a:t>
            </a:r>
            <a:endParaRPr sz="1200" b="0" i="0" strike="noStrike" cap="none" spc="0">
              <a:solidFill>
                <a:schemeClr val="bg1"/>
              </a:solidFill>
              <a:latin typeface="Adwaita Sans"/>
              <a:cs typeface="Adwaita Sans"/>
            </a:endParaRPr>
          </a:p>
          <a:p>
            <a:pPr marL="239819" marR="0" indent="-239819" algn="l" defTabSz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Wingdings"/>
              <a:buChar char="ü"/>
              <a:defRPr/>
            </a:pPr>
            <a:r>
              <a:rPr sz="1200" b="1" i="0" u="none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Problema:</a:t>
            </a:r>
            <a:r>
              <a:rPr sz="1200" b="0" i="0" u="none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 Sovrastima fee su UTXO SegWit</a:t>
            </a:r>
            <a:endParaRPr sz="1200" b="0" u="none" strike="noStrike" cap="none" spc="0">
              <a:solidFill>
                <a:schemeClr val="bg1"/>
              </a:solidFill>
              <a:latin typeface="Adwaita Sans"/>
              <a:cs typeface="Adwaita Sans"/>
            </a:endParaRPr>
          </a:p>
        </p:txBody>
      </p:sp>
      <p:pic>
        <p:nvPicPr>
          <p:cNvPr id="733870705" name="Google Shape;154;p16" descr="image.png"/>
          <p:cNvPicPr/>
          <p:nvPr/>
        </p:nvPicPr>
        <p:blipFill rotWithShape="1">
          <a:blip r:embed="rId5">
            <a:alphaModFix/>
          </a:blip>
          <a:srcRect l="0" t="0" r="0" b="0"/>
          <a:stretch/>
        </p:blipFill>
        <p:spPr bwMode="auto">
          <a:xfrm rot="0" flipH="0" flipV="0">
            <a:off x="7377967" y="1317768"/>
            <a:ext cx="4132238" cy="1874869"/>
          </a:xfrm>
          <a:prstGeom prst="rect">
            <a:avLst/>
          </a:prstGeom>
          <a:noFill/>
          <a:ln>
            <a:noFill/>
          </a:ln>
        </p:spPr>
      </p:pic>
      <p:sp>
        <p:nvSpPr>
          <p:cNvPr id="868912894" name="Google Shape;163;p16"/>
          <p:cNvSpPr txBox="1"/>
          <p:nvPr/>
        </p:nvSpPr>
        <p:spPr bwMode="auto">
          <a:xfrm>
            <a:off x="7534075" y="1550442"/>
            <a:ext cx="3980810" cy="22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it-IT" sz="1500" b="0" i="0" u="none" strike="noStrike" cap="none">
                <a:solidFill>
                  <a:srgbClr val="F7931A"/>
                </a:solidFill>
                <a:latin typeface="Poppins SemiBold"/>
                <a:ea typeface="Poppins SemiBold"/>
                <a:cs typeface="Poppins SemiBold"/>
              </a:rPr>
              <a:t>Stima Aware</a:t>
            </a:r>
            <a:endParaRPr/>
          </a:p>
        </p:txBody>
      </p:sp>
      <p:sp>
        <p:nvSpPr>
          <p:cNvPr id="1011360500" name=""/>
          <p:cNvSpPr txBox="1"/>
          <p:nvPr/>
        </p:nvSpPr>
        <p:spPr bwMode="auto">
          <a:xfrm rot="0" flipH="0" flipV="0">
            <a:off x="7534075" y="2034177"/>
            <a:ext cx="3895854" cy="9147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39819" marR="0" indent="-239819" algn="l" defTabSz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Wingdings"/>
              <a:buChar char="ü"/>
              <a:defRPr/>
            </a:pPr>
            <a:r>
              <a:rPr sz="1200" b="0" i="0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P2PKH (148 vB)  e P2WPKH (68 vB)</a:t>
            </a:r>
            <a:endParaRPr sz="1200" b="0" i="0" strike="noStrike" cap="none" spc="0">
              <a:solidFill>
                <a:schemeClr val="bg1"/>
              </a:solidFill>
              <a:latin typeface="Adwaita Sans"/>
              <a:cs typeface="Adwaita Sans"/>
            </a:endParaRPr>
          </a:p>
          <a:p>
            <a:pPr marL="239819" marR="0" indent="-239819" algn="l" defTabSz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Wingdings"/>
              <a:buChar char="ü"/>
              <a:defRPr/>
            </a:pPr>
            <a:r>
              <a:rPr sz="1200" b="0" i="0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Size = Base + (N_Leg * 148) + (N_SegWit * 68)</a:t>
            </a:r>
            <a:endParaRPr sz="1200" b="0" i="0" strike="noStrike" cap="none" spc="0">
              <a:solidFill>
                <a:schemeClr val="bg1"/>
              </a:solidFill>
              <a:latin typeface="Adwaita Sans"/>
              <a:cs typeface="Adwaita Sans"/>
            </a:endParaRPr>
          </a:p>
          <a:p>
            <a:pPr marL="239819" marR="0" indent="-239819" algn="l" defTabSz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Wingdings"/>
              <a:buChar char="ü"/>
              <a:defRPr/>
            </a:pPr>
            <a:r>
              <a:rPr sz="1200" b="1" i="0" u="none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Problema:</a:t>
            </a:r>
            <a:r>
              <a:rPr sz="1200" b="0" i="0" u="none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 Fee in base al vByte effettivo</a:t>
            </a:r>
            <a:endParaRPr sz="1200" b="0" u="none" strike="noStrike" cap="none" spc="0">
              <a:solidFill>
                <a:schemeClr val="bg1"/>
              </a:solidFill>
              <a:latin typeface="Adwaita Sans"/>
              <a:cs typeface="Adwaita Sans"/>
            </a:endParaRPr>
          </a:p>
        </p:txBody>
      </p:sp>
      <p:graphicFrame>
        <p:nvGraphicFramePr>
          <p:cNvPr id="1618272314" name=""/>
          <p:cNvGraphicFramePr>
            <a:graphicFrameLocks xmlns:a="http://schemas.openxmlformats.org/drawingml/2006/main"/>
          </p:cNvGraphicFramePr>
          <p:nvPr/>
        </p:nvGraphicFramePr>
        <p:xfrm>
          <a:off x="1413779" y="3982155"/>
          <a:ext cx="9309452" cy="152399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{46F890A9-2807-4EBB-B81D-B2AA78EC7F39}</a:tableStyleId>
              </a:tblPr>
              <a:tblGrid>
                <a:gridCol w="1861890"/>
                <a:gridCol w="1861890"/>
                <a:gridCol w="1861890"/>
                <a:gridCol w="1861890"/>
                <a:gridCol w="1861890"/>
              </a:tblGrid>
              <a:tr h="30480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>
                          <a:solidFill>
                            <a:srgbClr val="18294F"/>
                          </a:solidFill>
                        </a:rPr>
                        <a:t>Tx</a:t>
                      </a:r>
                      <a:endParaRPr>
                        <a:solidFill>
                          <a:srgbClr val="F7931A"/>
                        </a:solidFill>
                      </a:endParaRPr>
                    </a:p>
                  </a:txBody>
                  <a:tcPr>
                    <a:solidFill>
                      <a:srgbClr val="F7931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>
                          <a:solidFill>
                            <a:srgbClr val="18294F"/>
                          </a:solidFill>
                        </a:rPr>
                        <a:t>Inputs</a:t>
                      </a:r>
                      <a:endParaRPr>
                        <a:solidFill>
                          <a:srgbClr val="18294F"/>
                        </a:solidFill>
                      </a:endParaRPr>
                    </a:p>
                  </a:txBody>
                  <a:tcPr>
                    <a:solidFill>
                      <a:srgbClr val="F7931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>
                          <a:solidFill>
                            <a:srgbClr val="18294F"/>
                          </a:solidFill>
                        </a:rPr>
                        <a:t>Raw Size</a:t>
                      </a:r>
                      <a:endParaRPr>
                        <a:solidFill>
                          <a:srgbClr val="F7931A"/>
                        </a:solidFill>
                      </a:endParaRPr>
                    </a:p>
                  </a:txBody>
                  <a:tcPr>
                    <a:solidFill>
                      <a:srgbClr val="F7931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>
                          <a:solidFill>
                            <a:srgbClr val="18294F"/>
                          </a:solidFill>
                        </a:rPr>
                        <a:t>vBytes</a:t>
                      </a:r>
                      <a:endParaRPr>
                        <a:solidFill>
                          <a:srgbClr val="F7931A"/>
                        </a:solidFill>
                      </a:endParaRPr>
                    </a:p>
                  </a:txBody>
                  <a:tcPr>
                    <a:solidFill>
                      <a:srgbClr val="F7931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>
                          <a:solidFill>
                            <a:srgbClr val="18294F"/>
                          </a:solidFill>
                        </a:rPr>
                        <a:t>Fee</a:t>
                      </a:r>
                      <a:endParaRPr>
                        <a:solidFill>
                          <a:srgbClr val="18294F"/>
                        </a:solidFill>
                      </a:endParaRPr>
                    </a:p>
                  </a:txBody>
                  <a:tcPr>
                    <a:solidFill>
                      <a:srgbClr val="F7931A"/>
                    </a:solidFill>
                  </a:tcPr>
                </a:tc>
              </a:tr>
              <a:tr h="30480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it-IT" sz="1400" b="0" i="0" u="sng" strike="noStrike" cap="none" spc="0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  <a:hlinkClick r:id="rId6" tooltip=""/>
                        </a:rPr>
                        <a:t>150a9abd..</a:t>
                      </a:r>
                      <a:r>
                        <a:rPr lang="it-IT" sz="1400" b="0" i="0" u="sng" strike="noStrike" cap="none" spc="0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  <a:hlinkClick r:id="rId6" tooltip=""/>
                        </a:rPr>
                        <a:t>.</a:t>
                      </a:r>
                      <a:r>
                        <a:rPr lang="it-IT" sz="1400" b="0" i="0" u="none" strike="noStrike" cap="none" spc="0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  <a:t> (Naive)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2 legacy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373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373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b="1">
                          <a:solidFill>
                            <a:srgbClr val="FF0000"/>
                          </a:solidFill>
                        </a:rPr>
                        <a:t>374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30480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it-IT" sz="1400" b="0" i="0" u="sng" strike="noStrike" cap="none" spc="0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  <a:hlinkClick r:id="rId7" tooltip=""/>
                        </a:rPr>
                        <a:t>0d5341d2...</a:t>
                      </a:r>
                      <a:r>
                        <a:rPr lang="it-IT" sz="1400" b="0" i="0" u="none" strike="noStrike" cap="none" spc="0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  <a:t> (Naive)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legacy + segwit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374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290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b="1">
                          <a:solidFill>
                            <a:srgbClr val="FF0000"/>
                          </a:solidFill>
                        </a:rPr>
                        <a:t>374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30480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it-IT" sz="1400" b="0" i="0" u="sng" strike="noStrike" cap="none" spc="0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  <a:hlinkClick r:id="rId8" tooltip=""/>
                        </a:rPr>
                        <a:t>c10743ed...</a:t>
                      </a:r>
                      <a:r>
                        <a:rPr lang="it-IT" sz="1400" b="0" i="0" u="none" strike="noStrike" cap="none" spc="0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  <a:t> (Aware)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lecagy + segwit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374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294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b="1">
                          <a:solidFill>
                            <a:srgbClr val="FF0000"/>
                          </a:solidFill>
                        </a:rPr>
                        <a:t>290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30480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it-IT" sz="1400" b="0" i="0" u="sng" strike="noStrike" cap="none" spc="0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  <a:hlinkClick r:id="rId9" tooltip=""/>
                        </a:rPr>
                        <a:t>34961e10.</a:t>
                      </a:r>
                      <a:r>
                        <a:rPr lang="it-IT" sz="1400" b="0" i="0" u="sng" strike="noStrike" cap="none" spc="0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  <a:hlinkClick r:id="rId9" tooltip=""/>
                        </a:rPr>
                        <a:t>..</a:t>
                      </a:r>
                      <a:r>
                        <a:rPr lang="it-IT" sz="1400" b="0" i="0" u="none" strike="noStrike" cap="none" spc="0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  <a:t> (Aware)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legacy + 2 segwit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520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365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b="1">
                          <a:solidFill>
                            <a:srgbClr val="FF0000"/>
                          </a:solidFill>
                        </a:rPr>
                        <a:t>362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14986" name="Google Shape;244;p20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6471379" name="Google Shape;245;p20" descr="image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466725" y="2767012"/>
            <a:ext cx="3600450" cy="2038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0266759" name="Google Shape;246;p20" descr="image.png"/>
          <p:cNvPicPr/>
          <p:nvPr/>
        </p:nvPicPr>
        <p:blipFill rotWithShape="1">
          <a:blip r:embed="rId5">
            <a:alphaModFix/>
          </a:blip>
          <a:srcRect l="0" t="0" r="0" b="0"/>
          <a:stretch/>
        </p:blipFill>
        <p:spPr bwMode="auto">
          <a:xfrm>
            <a:off x="4295775" y="2767012"/>
            <a:ext cx="3600450" cy="2038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8929190" name="Google Shape;247;p20" descr="image.png"/>
          <p:cNvPicPr/>
          <p:nvPr/>
        </p:nvPicPr>
        <p:blipFill rotWithShape="1">
          <a:blip r:embed="rId6">
            <a:alphaModFix/>
          </a:blip>
          <a:srcRect l="0" t="0" r="0" b="0"/>
          <a:stretch/>
        </p:blipFill>
        <p:spPr bwMode="auto">
          <a:xfrm>
            <a:off x="8124825" y="2767012"/>
            <a:ext cx="3600450" cy="2038349"/>
          </a:xfrm>
          <a:prstGeom prst="rect">
            <a:avLst/>
          </a:prstGeom>
          <a:noFill/>
          <a:ln>
            <a:noFill/>
          </a:ln>
        </p:spPr>
      </p:pic>
      <p:sp>
        <p:nvSpPr>
          <p:cNvPr id="412910483" name="Google Shape;248;p20"/>
          <p:cNvSpPr txBox="1"/>
          <p:nvPr/>
        </p:nvSpPr>
        <p:spPr bwMode="auto">
          <a:xfrm>
            <a:off x="885825" y="466725"/>
            <a:ext cx="11306174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Strategie di Coin Selection a Confronto</a:t>
            </a:r>
            <a:endParaRPr/>
          </a:p>
        </p:txBody>
      </p:sp>
      <p:pic>
        <p:nvPicPr>
          <p:cNvPr id="1862748538" name="Google Shape;250;p20" descr="image.png"/>
          <p:cNvPicPr/>
          <p:nvPr/>
        </p:nvPicPr>
        <p:blipFill rotWithShape="1">
          <a:blip r:embed="rId7">
            <a:alphaModFix/>
          </a:blip>
          <a:srcRect l="0" t="0" r="0" b="0"/>
          <a:stretch/>
        </p:blipFill>
        <p:spPr bwMode="auto">
          <a:xfrm>
            <a:off x="466725" y="576262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0786240" name="Google Shape;251;p20"/>
          <p:cNvSpPr txBox="1"/>
          <p:nvPr/>
        </p:nvSpPr>
        <p:spPr bwMode="auto">
          <a:xfrm>
            <a:off x="704849" y="3005136"/>
            <a:ext cx="3290130" cy="22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Greedy</a:t>
            </a:r>
            <a:r>
              <a:rPr lang="it-IT" sz="150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 Algorithm</a:t>
            </a:r>
            <a:endParaRPr/>
          </a:p>
        </p:txBody>
      </p:sp>
      <p:sp>
        <p:nvSpPr>
          <p:cNvPr id="1924710393" name="Google Shape;253;p20"/>
          <p:cNvSpPr txBox="1"/>
          <p:nvPr/>
        </p:nvSpPr>
        <p:spPr bwMode="auto">
          <a:xfrm>
            <a:off x="704850" y="3767137"/>
            <a:ext cx="31242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Ordina gli UTXO dal più grande al più piccolo. Minimizza il numero di input per la singola transazione, ma tende a creare resto frammentato.</a:t>
            </a:r>
            <a:endParaRPr/>
          </a:p>
        </p:txBody>
      </p:sp>
      <p:sp>
        <p:nvSpPr>
          <p:cNvPr id="1258939518" name="Google Shape;254;p20"/>
          <p:cNvSpPr txBox="1"/>
          <p:nvPr/>
        </p:nvSpPr>
        <p:spPr bwMode="auto">
          <a:xfrm>
            <a:off x="4533899" y="3005136"/>
            <a:ext cx="3282570" cy="22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Branch and Bound</a:t>
            </a:r>
            <a:endParaRPr/>
          </a:p>
        </p:txBody>
      </p:sp>
      <p:sp>
        <p:nvSpPr>
          <p:cNvPr id="686397208" name="Google Shape;256;p20"/>
          <p:cNvSpPr txBox="1"/>
          <p:nvPr/>
        </p:nvSpPr>
        <p:spPr bwMode="auto">
          <a:xfrm flipH="0" flipV="0">
            <a:off x="4533899" y="3767136"/>
            <a:ext cx="3160559" cy="960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Cerca una combinazione esatta di UTXO che soddisfi il target </a:t>
            </a:r>
            <a:r>
              <a:rPr lang="en-US" sz="105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senza generare alcun resto</a:t>
            </a:r>
            <a:r>
              <a:rPr lang="it-IT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.</a:t>
            </a:r>
            <a:endParaRPr lang="it-IT" sz="1050" b="0" i="0" u="none" strike="noStrike" cap="none">
              <a:solidFill>
                <a:srgbClr val="94A3B8"/>
              </a:solidFill>
              <a:latin typeface="Inter"/>
              <a:ea typeface="Inter"/>
              <a:cs typeface="Inter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it-IT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Se fallisce la soluzione esatta, passa all’algoritmo </a:t>
            </a:r>
            <a:r>
              <a:rPr lang="it-IT" sz="1050" b="0" i="1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Single Random Draw</a:t>
            </a:r>
            <a:r>
              <a:rPr lang="it-IT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.</a:t>
            </a:r>
            <a:endParaRPr i="0"/>
          </a:p>
        </p:txBody>
      </p:sp>
      <p:sp>
        <p:nvSpPr>
          <p:cNvPr id="1105130754" name="Google Shape;257;p20"/>
          <p:cNvSpPr txBox="1"/>
          <p:nvPr/>
        </p:nvSpPr>
        <p:spPr bwMode="auto">
          <a:xfrm>
            <a:off x="8362947" y="3005136"/>
            <a:ext cx="3295530" cy="22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it-IT" sz="150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Electrum Algorithm</a:t>
            </a:r>
            <a:endParaRPr/>
          </a:p>
        </p:txBody>
      </p:sp>
      <p:sp>
        <p:nvSpPr>
          <p:cNvPr id="1073907923" name="Google Shape;259;p20"/>
          <p:cNvSpPr txBox="1"/>
          <p:nvPr/>
        </p:nvSpPr>
        <p:spPr bwMode="auto">
          <a:xfrm flipH="0" flipV="0">
            <a:off x="8362949" y="3767136"/>
            <a:ext cx="3207359" cy="960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it-IT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Se spende un indirizzo, spende </a:t>
            </a:r>
            <a:r>
              <a:rPr lang="it-IT" sz="1050" b="0" i="1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tutti</a:t>
            </a:r>
            <a:r>
              <a:rPr lang="it-IT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 i suoi UTXO per ridurre il bloat UTXO. </a:t>
            </a:r>
            <a:r>
              <a:rPr lang="it-IT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Penalizza i resti eccessivamente grandi rispetto alla transazione.</a:t>
            </a:r>
            <a:endParaRPr lang="it-IT" sz="1050" b="0" i="0" u="none" strike="noStrike" cap="none">
              <a:solidFill>
                <a:srgbClr val="94A3B8"/>
              </a:solidFill>
              <a:latin typeface="Inter"/>
              <a:ea typeface="Inter"/>
              <a:cs typeface="Inter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it-IT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Penalizza i resti molto diversi dall’importo inviato.</a:t>
            </a:r>
            <a:endParaRPr lang="it-IT" sz="1050" b="0" i="0" u="none" strike="noStrike" cap="none">
              <a:solidFill>
                <a:srgbClr val="94A3B8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654228935" name=""/>
          <p:cNvSpPr/>
          <p:nvPr/>
        </p:nvSpPr>
        <p:spPr bwMode="auto">
          <a:xfrm rot="0" flipH="0" flipV="0">
            <a:off x="4533899" y="3348449"/>
            <a:ext cx="3209923" cy="257173"/>
          </a:xfrm>
          <a:prstGeom prst="roundRect">
            <a:avLst>
              <a:gd name="adj" fmla="val 16667"/>
            </a:avLst>
          </a:prstGeom>
          <a:solidFill>
            <a:srgbClr val="213E57"/>
          </a:solidFill>
          <a:ln w="12700" cap="flat" cmpd="sng" algn="ctr">
            <a:solidFill>
              <a:srgbClr val="265E7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/>
          <a:p>
            <a:pPr algn="l">
              <a:defRPr/>
            </a:pPr>
            <a:r>
              <a:rPr sz="1100" b="0">
                <a:solidFill>
                  <a:srgbClr val="2F92C3"/>
                </a:solidFill>
                <a:latin typeface="JetBrainsMono NF SemiBold"/>
                <a:ea typeface="JetBrainsMono NF SemiBold"/>
                <a:cs typeface="JetBrainsMono NF SemiBold"/>
              </a:rPr>
              <a:t>BITCOIN CORE</a:t>
            </a:r>
            <a:endParaRPr sz="1100" b="0">
              <a:solidFill>
                <a:srgbClr val="2F92C3"/>
              </a:solidFill>
              <a:latin typeface="JetBrainsMono NF SemiBold"/>
              <a:ea typeface="JetBrainsMono NF SemiBold"/>
              <a:cs typeface="JetBrainsMono NF SemiBold"/>
            </a:endParaRPr>
          </a:p>
        </p:txBody>
      </p:sp>
      <p:sp>
        <p:nvSpPr>
          <p:cNvPr id="661690905" name=""/>
          <p:cNvSpPr/>
          <p:nvPr/>
        </p:nvSpPr>
        <p:spPr bwMode="auto">
          <a:xfrm rot="0" flipH="0" flipV="0">
            <a:off x="619124" y="3348449"/>
            <a:ext cx="3209923" cy="257173"/>
          </a:xfrm>
          <a:prstGeom prst="roundRect">
            <a:avLst>
              <a:gd name="adj" fmla="val 16667"/>
            </a:avLst>
          </a:prstGeom>
          <a:solidFill>
            <a:srgbClr val="213E57"/>
          </a:solidFill>
          <a:ln w="12700" cap="flat" cmpd="sng" algn="ctr">
            <a:solidFill>
              <a:srgbClr val="265E7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/>
          <a:p>
            <a:pPr algn="l">
              <a:defRPr/>
            </a:pPr>
            <a:r>
              <a:rPr sz="1100" b="0">
                <a:solidFill>
                  <a:srgbClr val="2F92C3"/>
                </a:solidFill>
                <a:latin typeface="JetBrainsMono NF SemiBold"/>
                <a:ea typeface="JetBrainsMono NF SemiBold"/>
                <a:cs typeface="JetBrainsMono NF SemiBold"/>
              </a:rPr>
              <a:t>GO WALLET</a:t>
            </a:r>
            <a:endParaRPr sz="1100" b="0">
              <a:solidFill>
                <a:srgbClr val="2F92C3"/>
              </a:solidFill>
              <a:latin typeface="JetBrainsMono NF SemiBold"/>
              <a:ea typeface="JetBrainsMono NF SemiBold"/>
              <a:cs typeface="JetBrainsMono NF SemiBold"/>
            </a:endParaRPr>
          </a:p>
        </p:txBody>
      </p:sp>
      <p:sp>
        <p:nvSpPr>
          <p:cNvPr id="449242721" name=""/>
          <p:cNvSpPr/>
          <p:nvPr/>
        </p:nvSpPr>
        <p:spPr bwMode="auto">
          <a:xfrm rot="0" flipH="0" flipV="0">
            <a:off x="8362949" y="3348449"/>
            <a:ext cx="3209923" cy="257173"/>
          </a:xfrm>
          <a:prstGeom prst="roundRect">
            <a:avLst>
              <a:gd name="adj" fmla="val 16667"/>
            </a:avLst>
          </a:prstGeom>
          <a:solidFill>
            <a:srgbClr val="213E57"/>
          </a:solidFill>
          <a:ln w="12700" cap="flat" cmpd="sng" algn="ctr">
            <a:solidFill>
              <a:srgbClr val="265E7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/>
          <a:p>
            <a:pPr algn="l">
              <a:defRPr/>
            </a:pPr>
            <a:r>
              <a:rPr sz="1100" b="0">
                <a:solidFill>
                  <a:srgbClr val="2F92C3"/>
                </a:solidFill>
                <a:latin typeface="JetBrainsMono NF SemiBold"/>
                <a:ea typeface="JetBrainsMono NF SemiBold"/>
                <a:cs typeface="JetBrainsMono NF SemiBold"/>
              </a:rPr>
              <a:t>ELECTRUM</a:t>
            </a:r>
            <a:endParaRPr sz="1100" b="0">
              <a:solidFill>
                <a:srgbClr val="2F92C3"/>
              </a:solidFill>
              <a:latin typeface="JetBrainsMono NF SemiBold"/>
              <a:ea typeface="JetBrainsMono NF SemiBold"/>
              <a:cs typeface="JetBrainsMono NF Semi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54794486" name="Google Shape;264;p21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4584989" name="Google Shape;266;p21"/>
          <p:cNvSpPr txBox="1"/>
          <p:nvPr/>
        </p:nvSpPr>
        <p:spPr bwMode="auto">
          <a:xfrm>
            <a:off x="819149" y="517282"/>
            <a:ext cx="11377169" cy="388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it-IT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Salvataggio </a:t>
            </a:r>
            <a:r>
              <a:rPr lang="en-US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Wallet su Disco</a:t>
            </a:r>
            <a:endParaRPr/>
          </a:p>
        </p:txBody>
      </p:sp>
      <p:pic>
        <p:nvPicPr>
          <p:cNvPr id="1562220265" name="Google Shape;268;p21" descr="image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466725" y="576262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9840" name=""/>
          <p:cNvSpPr txBox="1"/>
          <p:nvPr/>
        </p:nvSpPr>
        <p:spPr bwMode="auto">
          <a:xfrm rot="0" flipH="0" flipV="0">
            <a:off x="7157092" y="1196162"/>
            <a:ext cx="4588792" cy="466379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it-IT" sz="1200" b="0" i="0" u="none" strike="noStrike" cap="none" spc="0">
                <a:solidFill>
                  <a:srgbClr val="9E3F19"/>
                </a:solidFill>
                <a:latin typeface="JetBrainsMono NF"/>
                <a:ea typeface="JetBrainsMono NF"/>
                <a:cs typeface="JetBrainsMono NF"/>
              </a:rPr>
              <a:t>type </a:t>
            </a:r>
            <a:r>
              <a:rPr lang="it-IT" sz="12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CryptoEnvelope </a:t>
            </a:r>
            <a:r>
              <a:rPr lang="it-IT" sz="1200" b="0" i="0" u="none" strike="noStrike" cap="none" spc="0">
                <a:solidFill>
                  <a:srgbClr val="9E3F19"/>
                </a:solidFill>
                <a:latin typeface="JetBrainsMono NF"/>
                <a:ea typeface="JetBrainsMono NF"/>
                <a:cs typeface="JetBrainsMono NF"/>
              </a:rPr>
              <a:t>struct </a:t>
            </a:r>
            <a:r>
              <a:rPr lang="it-IT" sz="12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{</a:t>
            </a:r>
            <a:endParaRPr sz="1200" b="0" i="0" u="none" strike="noStrike" cap="none" spc="0">
              <a:solidFill>
                <a:schemeClr val="bg1"/>
              </a:solidFill>
              <a:latin typeface="JetBrainsMono NF"/>
              <a:cs typeface="JetBrainsMono NF"/>
            </a:endParaRPr>
          </a:p>
          <a:p>
            <a:pPr>
              <a:defRPr/>
            </a:pPr>
            <a:r>
              <a:rPr lang="it-IT" sz="12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    </a:t>
            </a:r>
            <a:r>
              <a:rPr lang="it-IT" sz="1200" b="0" i="0" u="none" strike="noStrike" cap="none" spc="0">
                <a:solidFill>
                  <a:srgbClr val="33ABE1"/>
                </a:solidFill>
                <a:latin typeface="JetBrainsMono NF"/>
                <a:ea typeface="JetBrainsMono NF"/>
                <a:cs typeface="JetBrainsMono NF"/>
              </a:rPr>
              <a:t>Cipher     </a:t>
            </a:r>
            <a:r>
              <a:rPr lang="it-IT" sz="12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string   </a:t>
            </a:r>
            <a:endParaRPr sz="1200" b="0" i="0" u="none" strike="noStrike" cap="none" spc="0">
              <a:solidFill>
                <a:schemeClr val="bg1"/>
              </a:solidFill>
              <a:latin typeface="JetBrainsMono NF"/>
              <a:cs typeface="JetBrainsMono NF"/>
            </a:endParaRPr>
          </a:p>
          <a:p>
            <a:pPr>
              <a:defRPr/>
            </a:pPr>
            <a:r>
              <a:rPr lang="it-IT" sz="12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    </a:t>
            </a:r>
            <a:r>
              <a:rPr lang="it-IT" sz="1200" b="0" i="0" u="none" strike="noStrike" cap="none" spc="0">
                <a:solidFill>
                  <a:srgbClr val="33ABE1"/>
                </a:solidFill>
                <a:latin typeface="JetBrainsMono NF"/>
                <a:ea typeface="JetBrainsMono NF"/>
                <a:cs typeface="JetBrainsMono NF"/>
              </a:rPr>
              <a:t>Ciphertext </a:t>
            </a:r>
            <a:r>
              <a:rPr lang="it-IT" sz="12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[]byte    </a:t>
            </a:r>
            <a:endParaRPr sz="1200" b="0" i="0" u="none" strike="noStrike" cap="none" spc="0">
              <a:solidFill>
                <a:schemeClr val="bg1"/>
              </a:solidFill>
              <a:latin typeface="JetBrainsMono NF"/>
              <a:cs typeface="JetBrainsMono NF"/>
            </a:endParaRPr>
          </a:p>
          <a:p>
            <a:pPr>
              <a:defRPr/>
            </a:pPr>
            <a:r>
              <a:rPr lang="it-IT" sz="12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    </a:t>
            </a:r>
            <a:r>
              <a:rPr lang="it-IT" sz="1200" b="0" i="0" u="none" strike="noStrike" cap="none" spc="0">
                <a:solidFill>
                  <a:srgbClr val="33ABE1"/>
                </a:solidFill>
                <a:latin typeface="JetBrainsMono NF"/>
                <a:ea typeface="JetBrainsMono NF"/>
                <a:cs typeface="JetBrainsMono NF"/>
              </a:rPr>
              <a:t>Nonce      </a:t>
            </a:r>
            <a:r>
              <a:rPr lang="it-IT" sz="12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[]byte    </a:t>
            </a:r>
            <a:endParaRPr sz="1200" b="0" i="0" u="none" strike="noStrike" cap="none" spc="0">
              <a:solidFill>
                <a:schemeClr val="bg1"/>
              </a:solidFill>
              <a:latin typeface="JetBrainsMono NF"/>
              <a:cs typeface="JetBrainsMono NF"/>
            </a:endParaRPr>
          </a:p>
          <a:p>
            <a:pPr>
              <a:defRPr/>
            </a:pPr>
            <a:r>
              <a:rPr lang="it-IT" sz="12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    </a:t>
            </a:r>
            <a:r>
              <a:rPr lang="it-IT" sz="1200" b="0" i="0" u="none" strike="noStrike" cap="none" spc="0">
                <a:solidFill>
                  <a:srgbClr val="33ABE1"/>
                </a:solidFill>
                <a:latin typeface="JetBrainsMono NF"/>
                <a:ea typeface="JetBrainsMono NF"/>
                <a:cs typeface="JetBrainsMono NF"/>
              </a:rPr>
              <a:t>KDF        </a:t>
            </a:r>
            <a:r>
              <a:rPr lang="it-IT" sz="12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string    </a:t>
            </a:r>
            <a:endParaRPr lang="it-IT" sz="1200" b="0" i="0" u="none" strike="noStrike" cap="none" spc="0">
              <a:solidFill>
                <a:schemeClr val="bg1"/>
              </a:solidFill>
              <a:latin typeface="JetBrainsMono NF"/>
              <a:ea typeface="JetBrainsMono NF"/>
              <a:cs typeface="JetBrainsMono NF"/>
            </a:endParaRPr>
          </a:p>
          <a:p>
            <a:pPr>
              <a:defRPr/>
            </a:pPr>
            <a:r>
              <a:rPr lang="it-IT" sz="12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    </a:t>
            </a:r>
            <a:r>
              <a:rPr lang="it-IT" sz="1200" b="0" i="0" u="none" strike="noStrike" cap="none" spc="0">
                <a:solidFill>
                  <a:srgbClr val="33ABE1"/>
                </a:solidFill>
                <a:latin typeface="JetBrainsMono NF"/>
                <a:ea typeface="JetBrainsMono NF"/>
                <a:cs typeface="JetBrainsMono NF"/>
              </a:rPr>
              <a:t>KDFParams  </a:t>
            </a:r>
            <a:r>
              <a:rPr lang="it-IT" sz="12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KDFParams</a:t>
            </a:r>
            <a:endParaRPr sz="1200" b="0" i="0" u="none" strike="noStrike" cap="none" spc="0">
              <a:solidFill>
                <a:schemeClr val="bg1"/>
              </a:solidFill>
              <a:latin typeface="JetBrainsMono NF"/>
              <a:cs typeface="JetBrainsMono NF"/>
            </a:endParaRPr>
          </a:p>
          <a:p>
            <a:pPr>
              <a:defRPr/>
            </a:pPr>
            <a:r>
              <a:rPr lang="it-IT" sz="12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}</a:t>
            </a:r>
            <a:endParaRPr lang="it-IT" sz="1200" b="0" i="0" u="none" strike="noStrike" cap="none" spc="0">
              <a:solidFill>
                <a:schemeClr val="bg1"/>
              </a:solidFill>
              <a:latin typeface="JetBrainsMono NF"/>
              <a:ea typeface="JetBrainsMono NF"/>
              <a:cs typeface="JetBrainsMono NF"/>
            </a:endParaRPr>
          </a:p>
          <a:p>
            <a:pPr>
              <a:defRPr/>
            </a:pPr>
            <a:endParaRPr sz="1200">
              <a:solidFill>
                <a:schemeClr val="bg1"/>
              </a:solidFill>
              <a:latin typeface="JetBrainsMono NF"/>
              <a:cs typeface="JetBrainsMono NF"/>
            </a:endParaRPr>
          </a:p>
          <a:p>
            <a:pPr>
              <a:defRPr/>
            </a:pPr>
            <a:r>
              <a:rPr lang="it-IT" sz="1200" b="0" i="0" u="none" strike="noStrike" cap="none" spc="0">
                <a:solidFill>
                  <a:srgbClr val="9E3F19"/>
                </a:solidFill>
                <a:latin typeface="JetBrainsMono NF"/>
                <a:ea typeface="JetBrainsMono NF"/>
                <a:cs typeface="JetBrainsMono NF"/>
              </a:rPr>
              <a:t>type </a:t>
            </a:r>
            <a:r>
              <a:rPr lang="it-IT" sz="12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KeystoreData </a:t>
            </a:r>
            <a:r>
              <a:rPr lang="it-IT" sz="1200" b="0" i="0" u="none" strike="noStrike" cap="none" spc="0">
                <a:solidFill>
                  <a:srgbClr val="9E3F19"/>
                </a:solidFill>
                <a:latin typeface="JetBrainsMono NF"/>
                <a:ea typeface="JetBrainsMono NF"/>
                <a:cs typeface="JetBrainsMono NF"/>
              </a:rPr>
              <a:t>struct </a:t>
            </a:r>
            <a:r>
              <a:rPr lang="it-IT" sz="12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{</a:t>
            </a:r>
            <a:endParaRPr lang="it-IT" sz="1200" b="0" i="0" u="none" strike="noStrike" cap="none" spc="0">
              <a:solidFill>
                <a:schemeClr val="bg1"/>
              </a:solidFill>
              <a:latin typeface="JetBrainsMono NF"/>
              <a:cs typeface="JetBrainsMono NF"/>
            </a:endParaRPr>
          </a:p>
          <a:p>
            <a:pPr>
              <a:defRPr/>
            </a:pPr>
            <a:r>
              <a:rPr lang="it-IT" sz="12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    </a:t>
            </a:r>
            <a:r>
              <a:rPr lang="it-IT" sz="1200" b="0" i="0" u="none" strike="noStrike" cap="none" spc="0">
                <a:solidFill>
                  <a:srgbClr val="33ABE1"/>
                </a:solidFill>
                <a:latin typeface="JetBrainsMono NF"/>
                <a:ea typeface="JetBrainsMono NF"/>
                <a:cs typeface="JetBrainsMono NF"/>
              </a:rPr>
              <a:t>Mnemonic </a:t>
            </a:r>
            <a:r>
              <a:rPr lang="it-IT" sz="12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[</a:t>
            </a:r>
            <a:r>
              <a:rPr lang="it-IT" sz="1200" b="0" i="0" u="none" strike="noStrike" cap="none" spc="0">
                <a:solidFill>
                  <a:srgbClr val="33ABE1"/>
                </a:solidFill>
                <a:latin typeface="JetBrainsMono NF"/>
                <a:ea typeface="JetBrainsMono NF"/>
                <a:cs typeface="JetBrainsMono NF"/>
              </a:rPr>
              <a:t>12</a:t>
            </a:r>
            <a:r>
              <a:rPr lang="it-IT" sz="12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]string</a:t>
            </a:r>
            <a:endParaRPr lang="it-IT" sz="1200" b="0" i="0" u="none" strike="noStrike" cap="none" spc="0">
              <a:solidFill>
                <a:schemeClr val="bg1"/>
              </a:solidFill>
              <a:latin typeface="JetBrainsMono NF"/>
              <a:cs typeface="JetBrainsMono NF"/>
            </a:endParaRPr>
          </a:p>
          <a:p>
            <a:pPr>
              <a:defRPr/>
            </a:pPr>
            <a:r>
              <a:rPr lang="it-IT" sz="12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    </a:t>
            </a:r>
            <a:r>
              <a:rPr lang="it-IT" sz="1200" b="0" i="0" u="none" strike="noStrike" cap="none" spc="0">
                <a:solidFill>
                  <a:srgbClr val="33ABE1"/>
                </a:solidFill>
                <a:latin typeface="JetBrainsMono NF"/>
                <a:ea typeface="JetBrainsMono NF"/>
                <a:cs typeface="JetBrainsMono NF"/>
              </a:rPr>
              <a:t>Seed     </a:t>
            </a:r>
            <a:r>
              <a:rPr lang="it-IT" sz="12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[</a:t>
            </a:r>
            <a:r>
              <a:rPr lang="it-IT" sz="1200" b="0" i="0" u="none" strike="noStrike" cap="none" spc="0">
                <a:solidFill>
                  <a:srgbClr val="33ABE1"/>
                </a:solidFill>
                <a:latin typeface="JetBrainsMono NF"/>
                <a:ea typeface="JetBrainsMono NF"/>
                <a:cs typeface="JetBrainsMono NF"/>
              </a:rPr>
              <a:t>64</a:t>
            </a:r>
            <a:r>
              <a:rPr lang="it-IT" sz="12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]byte   </a:t>
            </a:r>
            <a:endParaRPr lang="it-IT" sz="1200" b="0" i="0" u="none" strike="noStrike" cap="none" spc="0">
              <a:solidFill>
                <a:schemeClr val="bg1"/>
              </a:solidFill>
              <a:latin typeface="JetBrainsMono NF"/>
              <a:cs typeface="JetBrainsMono NF"/>
            </a:endParaRPr>
          </a:p>
          <a:p>
            <a:pPr>
              <a:defRPr/>
            </a:pPr>
            <a:r>
              <a:rPr lang="it-IT" sz="12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    </a:t>
            </a:r>
            <a:r>
              <a:rPr lang="it-IT" sz="1200" b="0" i="0" u="none" strike="noStrike" cap="none" spc="0">
                <a:solidFill>
                  <a:srgbClr val="33ABE1"/>
                </a:solidFill>
                <a:latin typeface="JetBrainsMono NF"/>
                <a:ea typeface="JetBrainsMono NF"/>
                <a:cs typeface="JetBrainsMono NF"/>
              </a:rPr>
              <a:t>Xpub     </a:t>
            </a:r>
            <a:r>
              <a:rPr lang="it-IT" sz="12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[]byte     </a:t>
            </a:r>
            <a:endParaRPr lang="it-IT" sz="1200" b="0" i="0" u="none" strike="noStrike" cap="none" spc="0">
              <a:solidFill>
                <a:schemeClr val="bg1"/>
              </a:solidFill>
              <a:latin typeface="JetBrainsMono NF"/>
              <a:cs typeface="JetBrainsMono NF"/>
            </a:endParaRPr>
          </a:p>
          <a:p>
            <a:pPr>
              <a:defRPr/>
            </a:pPr>
            <a:r>
              <a:rPr lang="it-IT" sz="12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    </a:t>
            </a:r>
            <a:r>
              <a:rPr lang="it-IT" sz="1200" b="0" i="0" u="none" strike="noStrike" cap="none" spc="0">
                <a:solidFill>
                  <a:srgbClr val="33ABE1"/>
                </a:solidFill>
                <a:latin typeface="JetBrainsMono NF"/>
                <a:ea typeface="JetBrainsMono NF"/>
                <a:cs typeface="JetBrainsMono NF"/>
              </a:rPr>
              <a:t>Xprv     </a:t>
            </a:r>
            <a:r>
              <a:rPr lang="it-IT" sz="12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[]byte     </a:t>
            </a:r>
            <a:endParaRPr lang="it-IT" sz="1200" b="0" i="0" u="none" strike="noStrike" cap="none" spc="0">
              <a:solidFill>
                <a:schemeClr val="bg1"/>
              </a:solidFill>
              <a:latin typeface="JetBrainsMono NF"/>
              <a:cs typeface="JetBrainsMono NF"/>
            </a:endParaRPr>
          </a:p>
          <a:p>
            <a:pPr>
              <a:defRPr/>
            </a:pPr>
            <a:r>
              <a:rPr lang="it-IT" sz="12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}</a:t>
            </a:r>
            <a:endParaRPr lang="it-IT" sz="1200" b="0" i="0" u="none" strike="noStrike" cap="none" spc="0">
              <a:solidFill>
                <a:schemeClr val="bg1"/>
              </a:solidFill>
              <a:latin typeface="JetBrainsMono NF"/>
              <a:cs typeface="JetBrainsMono NF"/>
            </a:endParaRPr>
          </a:p>
          <a:p>
            <a:pPr>
              <a:defRPr/>
            </a:pPr>
            <a:endParaRPr lang="it-IT" sz="1200" b="0" i="0" u="none" strike="noStrike" cap="none" spc="0">
              <a:solidFill>
                <a:schemeClr val="bg1"/>
              </a:solidFill>
              <a:latin typeface="JetBrainsMono NF"/>
              <a:cs typeface="JetBrainsMono NF"/>
            </a:endParaRPr>
          </a:p>
          <a:p>
            <a:pPr>
              <a:defRPr/>
            </a:pPr>
            <a:r>
              <a:rPr lang="it-IT" sz="1200" b="0" i="0" u="none" strike="noStrike" cap="none" spc="0">
                <a:solidFill>
                  <a:srgbClr val="9E3F19"/>
                </a:solidFill>
                <a:latin typeface="JetBrainsMono NF"/>
                <a:ea typeface="JetBrainsMono NF"/>
                <a:cs typeface="JetBrainsMono NF"/>
              </a:rPr>
              <a:t>type </a:t>
            </a:r>
            <a:r>
              <a:rPr lang="it-IT" sz="12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AddressSet </a:t>
            </a:r>
            <a:r>
              <a:rPr lang="it-IT" sz="1200" b="0" i="0" u="none" strike="noStrike" cap="none" spc="0">
                <a:solidFill>
                  <a:srgbClr val="9E3F19"/>
                </a:solidFill>
                <a:latin typeface="JetBrainsMono NF"/>
                <a:ea typeface="JetBrainsMono NF"/>
                <a:cs typeface="JetBrainsMono NF"/>
              </a:rPr>
              <a:t>struct </a:t>
            </a:r>
            <a:r>
              <a:rPr lang="it-IT" sz="12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{</a:t>
            </a:r>
            <a:endParaRPr lang="it-IT" sz="1200" b="0" i="0" u="none" strike="noStrike" cap="none" spc="0">
              <a:solidFill>
                <a:schemeClr val="bg1"/>
              </a:solidFill>
              <a:latin typeface="JetBrainsMono NF"/>
              <a:cs typeface="JetBrainsMono NF"/>
            </a:endParaRPr>
          </a:p>
          <a:p>
            <a:pPr>
              <a:defRPr/>
            </a:pPr>
            <a:r>
              <a:rPr lang="it-IT" sz="12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    </a:t>
            </a:r>
            <a:r>
              <a:rPr lang="it-IT" sz="1200" b="0" i="0" u="none" strike="noStrike" cap="none" spc="0">
                <a:solidFill>
                  <a:srgbClr val="33ABE1"/>
                </a:solidFill>
                <a:latin typeface="JetBrainsMono NF"/>
                <a:ea typeface="JetBrainsMono NF"/>
                <a:cs typeface="JetBrainsMono NF"/>
              </a:rPr>
              <a:t>Legacy </a:t>
            </a:r>
            <a:r>
              <a:rPr lang="it-IT" sz="1200" b="0" i="0" u="none" strike="noStrike" cap="none" spc="0">
                <a:solidFill>
                  <a:srgbClr val="9E3F19"/>
                </a:solidFill>
                <a:latin typeface="JetBrainsMono NF"/>
                <a:ea typeface="JetBrainsMono NF"/>
                <a:cs typeface="JetBrainsMono NF"/>
              </a:rPr>
              <a:t>map</a:t>
            </a:r>
            <a:r>
              <a:rPr lang="it-IT" sz="12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[</a:t>
            </a:r>
            <a:r>
              <a:rPr lang="it-IT" sz="12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string</a:t>
            </a:r>
            <a:r>
              <a:rPr lang="it-IT" sz="12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]keymanager.Address</a:t>
            </a:r>
            <a:endParaRPr lang="it-IT" sz="1200" b="0" i="0" u="none" strike="noStrike" cap="none" spc="0">
              <a:solidFill>
                <a:schemeClr val="bg1"/>
              </a:solidFill>
              <a:latin typeface="JetBrainsMono NF"/>
              <a:cs typeface="JetBrainsMono NF"/>
            </a:endParaRPr>
          </a:p>
          <a:p>
            <a:pPr>
              <a:defRPr/>
            </a:pPr>
            <a:r>
              <a:rPr lang="it-IT" sz="12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    </a:t>
            </a:r>
            <a:r>
              <a:rPr lang="it-IT" sz="1200" b="0" i="0" u="none" strike="noStrike" cap="none" spc="0">
                <a:solidFill>
                  <a:srgbClr val="33ABE1"/>
                </a:solidFill>
                <a:latin typeface="JetBrainsMono NF"/>
                <a:ea typeface="JetBrainsMono NF"/>
                <a:cs typeface="JetBrainsMono NF"/>
              </a:rPr>
              <a:t>Segwit </a:t>
            </a:r>
            <a:r>
              <a:rPr lang="it-IT" sz="1200" b="0" i="0" u="none" strike="noStrike" cap="none" spc="0">
                <a:solidFill>
                  <a:srgbClr val="9E3F19"/>
                </a:solidFill>
                <a:latin typeface="JetBrainsMono NF"/>
                <a:ea typeface="JetBrainsMono NF"/>
                <a:cs typeface="JetBrainsMono NF"/>
              </a:rPr>
              <a:t>map</a:t>
            </a:r>
            <a:r>
              <a:rPr lang="it-IT" sz="12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[</a:t>
            </a:r>
            <a:r>
              <a:rPr lang="it-IT" sz="12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string</a:t>
            </a:r>
            <a:r>
              <a:rPr lang="it-IT" sz="12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]keymanager.Address</a:t>
            </a:r>
            <a:endParaRPr lang="it-IT" sz="1200" b="0" i="0" u="none" strike="noStrike" cap="none" spc="0">
              <a:solidFill>
                <a:schemeClr val="bg1"/>
              </a:solidFill>
              <a:latin typeface="JetBrainsMono NF"/>
              <a:cs typeface="JetBrainsMono NF"/>
            </a:endParaRPr>
          </a:p>
          <a:p>
            <a:pPr>
              <a:defRPr/>
            </a:pPr>
            <a:r>
              <a:rPr lang="it-IT" sz="12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}</a:t>
            </a:r>
            <a:endParaRPr lang="it-IT" sz="1200" b="0" i="0" u="none" strike="noStrike" cap="none" spc="0">
              <a:solidFill>
                <a:schemeClr val="bg1"/>
              </a:solidFill>
              <a:latin typeface="JetBrainsMono NF"/>
              <a:cs typeface="JetBrainsMono NF"/>
            </a:endParaRPr>
          </a:p>
          <a:p>
            <a:pPr>
              <a:defRPr/>
            </a:pPr>
            <a:endParaRPr lang="it-IT" sz="1200" b="0" i="0" u="none" strike="noStrike" cap="none" spc="0">
              <a:solidFill>
                <a:schemeClr val="bg1"/>
              </a:solidFill>
              <a:latin typeface="JetBrainsMono NF"/>
              <a:cs typeface="JetBrainsMono NF"/>
            </a:endParaRPr>
          </a:p>
          <a:p>
            <a:pPr>
              <a:defRPr/>
            </a:pPr>
            <a:r>
              <a:rPr lang="it-IT" sz="1200" b="0" i="0" u="none" strike="noStrike" cap="none" spc="0">
                <a:solidFill>
                  <a:srgbClr val="9E3F19"/>
                </a:solidFill>
                <a:latin typeface="JetBrainsMono NF"/>
                <a:ea typeface="JetBrainsMono NF"/>
                <a:cs typeface="JetBrainsMono NF"/>
              </a:rPr>
              <a:t>type </a:t>
            </a:r>
            <a:r>
              <a:rPr lang="it-IT" sz="12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Payload </a:t>
            </a:r>
            <a:r>
              <a:rPr lang="it-IT" sz="1200" b="0" i="0" u="none" strike="noStrike" cap="none" spc="0">
                <a:solidFill>
                  <a:srgbClr val="9E3F19"/>
                </a:solidFill>
                <a:latin typeface="JetBrainsMono NF"/>
                <a:ea typeface="JetBrainsMono NF"/>
                <a:cs typeface="JetBrainsMono NF"/>
              </a:rPr>
              <a:t>struct </a:t>
            </a:r>
            <a:r>
              <a:rPr lang="it-IT" sz="12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{</a:t>
            </a:r>
            <a:endParaRPr lang="it-IT" sz="1200" b="0" i="0" u="none" strike="noStrike" cap="none" spc="0">
              <a:solidFill>
                <a:schemeClr val="bg1"/>
              </a:solidFill>
              <a:latin typeface="JetBrainsMono NF"/>
              <a:cs typeface="JetBrainsMono NF"/>
            </a:endParaRPr>
          </a:p>
          <a:p>
            <a:pPr>
              <a:defRPr/>
            </a:pPr>
            <a:r>
              <a:rPr lang="it-IT" sz="12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    </a:t>
            </a:r>
            <a:r>
              <a:rPr lang="it-IT" sz="1200" b="0" i="0" u="none" strike="noStrike" cap="none" spc="0">
                <a:solidFill>
                  <a:srgbClr val="33ABE1"/>
                </a:solidFill>
                <a:latin typeface="JetBrainsMono NF"/>
                <a:ea typeface="JetBrainsMono NF"/>
                <a:cs typeface="JetBrainsMono NF"/>
              </a:rPr>
              <a:t>Keystore  </a:t>
            </a:r>
            <a:r>
              <a:rPr lang="it-IT" sz="12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KeystoreData</a:t>
            </a:r>
            <a:endParaRPr lang="it-IT" sz="1200" b="0" i="0" u="none" strike="noStrike" cap="none" spc="0">
              <a:solidFill>
                <a:schemeClr val="bg1"/>
              </a:solidFill>
              <a:latin typeface="JetBrainsMono NF"/>
              <a:cs typeface="JetBrainsMono NF"/>
            </a:endParaRPr>
          </a:p>
          <a:p>
            <a:pPr>
              <a:defRPr/>
            </a:pPr>
            <a:r>
              <a:rPr lang="it-IT" sz="12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    </a:t>
            </a:r>
            <a:r>
              <a:rPr lang="it-IT" sz="1200" b="0" i="0" u="none" strike="noStrike" cap="none" spc="0">
                <a:solidFill>
                  <a:srgbClr val="33ABE1"/>
                </a:solidFill>
                <a:latin typeface="JetBrainsMono NF"/>
                <a:ea typeface="JetBrainsMono NF"/>
                <a:cs typeface="JetBrainsMono NF"/>
              </a:rPr>
              <a:t>Receivers </a:t>
            </a:r>
            <a:r>
              <a:rPr lang="it-IT" sz="12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AddressSet   </a:t>
            </a:r>
            <a:endParaRPr lang="it-IT" sz="1200" b="0" i="0" u="none" strike="noStrike" cap="none" spc="0">
              <a:solidFill>
                <a:schemeClr val="bg1"/>
              </a:solidFill>
              <a:latin typeface="JetBrainsMono NF"/>
              <a:cs typeface="JetBrainsMono NF"/>
            </a:endParaRPr>
          </a:p>
          <a:p>
            <a:pPr>
              <a:defRPr/>
            </a:pPr>
            <a:r>
              <a:rPr lang="it-IT" sz="12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    </a:t>
            </a:r>
            <a:r>
              <a:rPr lang="it-IT" sz="1200" b="0" i="0" u="none" strike="noStrike" cap="none" spc="0">
                <a:solidFill>
                  <a:srgbClr val="33ABE1"/>
                </a:solidFill>
                <a:latin typeface="JetBrainsMono NF"/>
                <a:ea typeface="JetBrainsMono NF"/>
                <a:cs typeface="JetBrainsMono NF"/>
              </a:rPr>
              <a:t>Change    </a:t>
            </a:r>
            <a:r>
              <a:rPr lang="it-IT" sz="12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AddressSet   </a:t>
            </a:r>
            <a:endParaRPr lang="it-IT" sz="1200" b="0" i="0" u="none" strike="noStrike" cap="none" spc="0">
              <a:solidFill>
                <a:schemeClr val="bg1"/>
              </a:solidFill>
              <a:latin typeface="JetBrainsMono NF"/>
              <a:cs typeface="JetBrainsMono NF"/>
            </a:endParaRPr>
          </a:p>
          <a:p>
            <a:pPr>
              <a:defRPr/>
            </a:pPr>
            <a:r>
              <a:rPr lang="it-IT" sz="1200" b="0" i="0" u="none" strike="noStrike" cap="none" spc="0">
                <a:solidFill>
                  <a:schemeClr val="bg1"/>
                </a:solidFill>
                <a:latin typeface="JetBrainsMono NF"/>
                <a:ea typeface="JetBrainsMono NF"/>
                <a:cs typeface="JetBrainsMono NF"/>
              </a:rPr>
              <a:t>}</a:t>
            </a:r>
            <a:endParaRPr sz="1200">
              <a:solidFill>
                <a:schemeClr val="bg1"/>
              </a:solidFill>
              <a:latin typeface="JetBrainsMono NF"/>
              <a:cs typeface="JetBrainsMono NF"/>
            </a:endParaRPr>
          </a:p>
        </p:txBody>
      </p:sp>
      <p:sp>
        <p:nvSpPr>
          <p:cNvPr id="3762284" name=""/>
          <p:cNvSpPr txBox="1"/>
          <p:nvPr/>
        </p:nvSpPr>
        <p:spPr bwMode="auto">
          <a:xfrm rot="0" flipH="0" flipV="0">
            <a:off x="619120" y="1869721"/>
            <a:ext cx="6257459" cy="1189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39819" marR="0" indent="-239819" algn="l" defTabSz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Wingdings"/>
              <a:buChar char="ü"/>
              <a:defRPr/>
            </a:pPr>
            <a:r>
              <a:rPr sz="1600" b="0" u="none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~/.walletbitcoingo/_network_/wallet</a:t>
            </a:r>
            <a:endParaRPr sz="1600" b="0" u="none" strike="noStrike" cap="none" spc="0">
              <a:solidFill>
                <a:schemeClr val="bg1"/>
              </a:solidFill>
              <a:latin typeface="Adwaita Sans"/>
              <a:cs typeface="Adwaita Sans"/>
            </a:endParaRPr>
          </a:p>
          <a:p>
            <a:pPr marL="239819" marR="0" indent="-239819" algn="l" defTabSz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Wingdings"/>
              <a:buChar char="ü"/>
              <a:defRPr/>
            </a:pPr>
            <a:r>
              <a:rPr sz="1600" b="0" u="none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File JSON</a:t>
            </a:r>
            <a:endParaRPr sz="1600" b="0" u="none" strike="noStrike" cap="none" spc="0">
              <a:solidFill>
                <a:schemeClr val="bg1"/>
              </a:solidFill>
              <a:latin typeface="Adwaita Sans"/>
              <a:cs typeface="Adwaita Sans"/>
            </a:endParaRPr>
          </a:p>
          <a:p>
            <a:pPr marL="239819" marR="0" indent="-239819" algn="l" defTabSz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Wingdings"/>
              <a:buChar char="ü"/>
              <a:defRPr/>
            </a:pPr>
            <a:r>
              <a:rPr sz="1600" b="0" u="none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AES-256-GCM</a:t>
            </a:r>
            <a:endParaRPr sz="1200" b="0" u="none" strike="noStrike" cap="none" spc="0">
              <a:solidFill>
                <a:schemeClr val="bg1"/>
              </a:solidFill>
              <a:latin typeface="Adwaita Sans"/>
              <a:cs typeface="Adwaita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83077938" name="Google Shape;292;p22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1528837" name="Google Shape;293;p22" descr="image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466725" y="2628900"/>
            <a:ext cx="1125855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9385261" name="Google Shape;294;p22" descr="image.png"/>
          <p:cNvPicPr/>
          <p:nvPr/>
        </p:nvPicPr>
        <p:blipFill rotWithShape="1">
          <a:blip r:embed="rId5">
            <a:alphaModFix/>
          </a:blip>
          <a:srcRect l="0" t="0" r="0" b="0"/>
          <a:stretch/>
        </p:blipFill>
        <p:spPr bwMode="auto">
          <a:xfrm>
            <a:off x="1102965" y="2867025"/>
            <a:ext cx="1924050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0446854" name="Google Shape;295;p22" descr="image.png"/>
          <p:cNvPicPr/>
          <p:nvPr/>
        </p:nvPicPr>
        <p:blipFill rotWithShape="1">
          <a:blip r:embed="rId6">
            <a:alphaModFix/>
          </a:blip>
          <a:srcRect l="0" t="0" r="0" b="0"/>
          <a:stretch/>
        </p:blipFill>
        <p:spPr bwMode="auto">
          <a:xfrm>
            <a:off x="4752826" y="2867025"/>
            <a:ext cx="2019300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4685870" name="Google Shape;296;p22" descr="image.png"/>
          <p:cNvPicPr/>
          <p:nvPr/>
        </p:nvPicPr>
        <p:blipFill rotWithShape="1">
          <a:blip r:embed="rId7">
            <a:alphaModFix/>
          </a:blip>
          <a:srcRect l="0" t="0" r="0" b="0"/>
          <a:stretch/>
        </p:blipFill>
        <p:spPr bwMode="auto">
          <a:xfrm>
            <a:off x="8497937" y="2867025"/>
            <a:ext cx="2590800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01415896" name="Google Shape;297;p22"/>
          <p:cNvSpPr txBox="1"/>
          <p:nvPr/>
        </p:nvSpPr>
        <p:spPr bwMode="auto">
          <a:xfrm>
            <a:off x="847725" y="466725"/>
            <a:ext cx="1134427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Broadcast Transazioni: Architettura Proxy</a:t>
            </a:r>
            <a:endParaRPr/>
          </a:p>
        </p:txBody>
      </p:sp>
      <p:pic>
        <p:nvPicPr>
          <p:cNvPr id="1059141748" name="Google Shape;299;p22" descr="image.png"/>
          <p:cNvPicPr/>
          <p:nvPr/>
        </p:nvPicPr>
        <p:blipFill rotWithShape="1">
          <a:blip r:embed="rId8">
            <a:alphaModFix/>
          </a:blip>
          <a:srcRect l="0" t="0" r="0" b="0"/>
          <a:stretch/>
        </p:blipFill>
        <p:spPr bwMode="auto">
          <a:xfrm>
            <a:off x="466725" y="576262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9937504" name="Google Shape;300;p22" descr="image.png"/>
          <p:cNvPicPr/>
          <p:nvPr/>
        </p:nvPicPr>
        <p:blipFill rotWithShape="1">
          <a:blip r:embed="rId9">
            <a:alphaModFix/>
          </a:blip>
          <a:srcRect l="0" t="0" r="0" b="0"/>
          <a:stretch/>
        </p:blipFill>
        <p:spPr bwMode="auto">
          <a:xfrm>
            <a:off x="3823245" y="3014662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6382193" name="Google Shape;301;p22" descr="image.png"/>
          <p:cNvPicPr/>
          <p:nvPr/>
        </p:nvPicPr>
        <p:blipFill rotWithShape="1">
          <a:blip r:embed="rId10">
            <a:alphaModFix/>
          </a:blip>
          <a:srcRect l="0" t="0" r="0" b="0"/>
          <a:stretch/>
        </p:blipFill>
        <p:spPr bwMode="auto">
          <a:xfrm>
            <a:off x="7568356" y="3014662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0938058" name="Google Shape;302;p22"/>
          <p:cNvSpPr txBox="1"/>
          <p:nvPr/>
        </p:nvSpPr>
        <p:spPr bwMode="auto">
          <a:xfrm>
            <a:off x="435767" y="4591049"/>
            <a:ext cx="575071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b="1" i="0" u="none" strike="noStrike" cap="none">
                <a:solidFill>
                  <a:srgbClr val="F7931A"/>
                </a:solidFill>
                <a:latin typeface="Poppins"/>
                <a:ea typeface="Poppins"/>
                <a:cs typeface="Poppins"/>
              </a:rPr>
              <a:t>Perché un Proxy Python?</a:t>
            </a:r>
            <a:endParaRPr/>
          </a:p>
        </p:txBody>
      </p:sp>
      <p:sp>
        <p:nvSpPr>
          <p:cNvPr id="693822397" name="Google Shape;303;p22"/>
          <p:cNvSpPr txBox="1"/>
          <p:nvPr/>
        </p:nvSpPr>
        <p:spPr bwMode="auto">
          <a:xfrm>
            <a:off x="435767" y="5000625"/>
            <a:ext cx="547687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Il nodo Bitcoin Core espone un'interfaccia RPC complessa e sensibile. Il server Python agisce da middleware sicuro esponendo solo gli endpoint essenziali (es. /sendtx, /utxos).</a:t>
            </a:r>
            <a:endParaRPr/>
          </a:p>
        </p:txBody>
      </p:sp>
      <p:sp>
        <p:nvSpPr>
          <p:cNvPr id="1036907945" name="Google Shape;304;p22"/>
          <p:cNvSpPr txBox="1"/>
          <p:nvPr/>
        </p:nvSpPr>
        <p:spPr bwMode="auto">
          <a:xfrm>
            <a:off x="6217443" y="4591049"/>
            <a:ext cx="575071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</a:rPr>
              <a:t>Isolamento &amp; Sicurezza</a:t>
            </a:r>
            <a:endParaRPr/>
          </a:p>
        </p:txBody>
      </p:sp>
      <p:sp>
        <p:nvSpPr>
          <p:cNvPr id="195289508" name="Google Shape;305;p22"/>
          <p:cNvSpPr txBox="1"/>
          <p:nvPr/>
        </p:nvSpPr>
        <p:spPr bwMode="auto">
          <a:xfrm>
            <a:off x="6217443" y="5000625"/>
            <a:ext cx="547687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Le credenziali RPC del nodo rimangono sul server locale. Il wallet Go invia unicamente la transazione già firmata in esadecimale (rawtx).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74019368" name="Google Shape;310;p23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8360455" name="Google Shape;312;p23"/>
          <p:cNvSpPr txBox="1"/>
          <p:nvPr/>
        </p:nvSpPr>
        <p:spPr bwMode="auto">
          <a:xfrm>
            <a:off x="847725" y="466725"/>
            <a:ext cx="1134427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Resilienza di Rete: Fallback REST</a:t>
            </a:r>
            <a:endParaRPr/>
          </a:p>
        </p:txBody>
      </p:sp>
      <p:pic>
        <p:nvPicPr>
          <p:cNvPr id="2076528153" name="Google Shape;314;p23" descr="image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466725" y="576262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1050672" name="Google Shape;315;p23"/>
          <p:cNvSpPr txBox="1"/>
          <p:nvPr/>
        </p:nvSpPr>
        <p:spPr bwMode="auto">
          <a:xfrm>
            <a:off x="600074" y="1899009"/>
            <a:ext cx="5751797" cy="305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Gestione dei Fallimento di Rete</a:t>
            </a:r>
            <a:endParaRPr sz="2000"/>
          </a:p>
        </p:txBody>
      </p:sp>
      <p:sp>
        <p:nvSpPr>
          <p:cNvPr id="883928381" name=""/>
          <p:cNvSpPr txBox="1"/>
          <p:nvPr/>
        </p:nvSpPr>
        <p:spPr bwMode="auto">
          <a:xfrm rot="0" flipH="0" flipV="0">
            <a:off x="466724" y="2453793"/>
            <a:ext cx="10491633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39819" marR="0" indent="-239819" algn="l" defTabSz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Wingdings"/>
              <a:buChar char="ü"/>
              <a:defRPr/>
            </a:pPr>
            <a:r>
              <a:rPr sz="1600" b="1" i="0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Primary Provider: </a:t>
            </a:r>
            <a:r>
              <a:rPr sz="1600" b="0" i="0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Nodo Bitcoin locale gestito tramite il Proxy Python</a:t>
            </a:r>
            <a:endParaRPr sz="1600" b="0" i="0" strike="noStrike" cap="none" spc="0">
              <a:solidFill>
                <a:schemeClr val="bg1"/>
              </a:solidFill>
              <a:latin typeface="Adwaita Sans"/>
              <a:cs typeface="Adwaita Sans"/>
            </a:endParaRPr>
          </a:p>
          <a:p>
            <a:pPr marL="239819" marR="0" indent="-239819" algn="l" defTabSz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Wingdings"/>
              <a:buChar char="ü"/>
              <a:defRPr/>
            </a:pPr>
            <a:r>
              <a:rPr sz="1600" b="1" i="0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Fallback Automatico:</a:t>
            </a:r>
            <a:r>
              <a:rPr sz="1600" b="0" i="0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 Se il nodo è offline, fallback automatico verso le API di Mempool</a:t>
            </a:r>
            <a:endParaRPr sz="1600" b="0" i="0" strike="noStrike" cap="none" spc="0">
              <a:solidFill>
                <a:schemeClr val="bg1"/>
              </a:solidFill>
              <a:latin typeface="Adwaita Sans"/>
              <a:cs typeface="Adwaita Sans"/>
            </a:endParaRPr>
          </a:p>
        </p:txBody>
      </p:sp>
      <p:sp>
        <p:nvSpPr>
          <p:cNvPr id="847698443" name="Google Shape;315;p23"/>
          <p:cNvSpPr txBox="1"/>
          <p:nvPr/>
        </p:nvSpPr>
        <p:spPr bwMode="auto">
          <a:xfrm>
            <a:off x="733424" y="4108989"/>
            <a:ext cx="5770876" cy="305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it-IT" sz="2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Problema</a:t>
            </a:r>
            <a:endParaRPr sz="2000"/>
          </a:p>
        </p:txBody>
      </p:sp>
      <p:sp>
        <p:nvSpPr>
          <p:cNvPr id="2033535192" name=""/>
          <p:cNvSpPr txBox="1"/>
          <p:nvPr/>
        </p:nvSpPr>
        <p:spPr bwMode="auto">
          <a:xfrm rot="0" flipH="0" flipV="0">
            <a:off x="600075" y="4526153"/>
            <a:ext cx="10561112" cy="4575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39819" marR="0" indent="-239819" algn="l" defTabSz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Wingdings"/>
              <a:buChar char="ü"/>
              <a:defRPr/>
            </a:pPr>
            <a:r>
              <a:rPr sz="1600" b="0" i="0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Il nodo Bitcoin impiega troppo tempo per fare lo scanning dell’UTXO set</a:t>
            </a:r>
            <a:endParaRPr sz="1600" b="0" i="0" strike="noStrike" cap="none" spc="0">
              <a:solidFill>
                <a:schemeClr val="bg1"/>
              </a:solidFill>
              <a:latin typeface="Adwaita Sans"/>
              <a:cs typeface="Adwaita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04764879" name="Google Shape;310;p23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2915539" name="Google Shape;312;p23"/>
          <p:cNvSpPr txBox="1"/>
          <p:nvPr/>
        </p:nvSpPr>
        <p:spPr bwMode="auto">
          <a:xfrm>
            <a:off x="847724" y="541222"/>
            <a:ext cx="11396474" cy="388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it-IT" sz="25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Sviluppi Futuri</a:t>
            </a:r>
            <a:endParaRPr/>
          </a:p>
        </p:txBody>
      </p:sp>
      <p:sp>
        <p:nvSpPr>
          <p:cNvPr id="2016003812" name=""/>
          <p:cNvSpPr txBox="1"/>
          <p:nvPr/>
        </p:nvSpPr>
        <p:spPr bwMode="auto">
          <a:xfrm rot="0" flipH="0" flipV="0">
            <a:off x="466724" y="1730599"/>
            <a:ext cx="10761633" cy="22863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39819" marR="0" indent="-239819" algn="l" defTabSz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Wingdings"/>
              <a:buChar char="ü"/>
              <a:defRPr/>
            </a:pPr>
            <a:r>
              <a:rPr sz="1600" b="0" i="0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Implementare fallback su Mempool</a:t>
            </a:r>
            <a:endParaRPr sz="1600" b="0" i="0" strike="noStrike" cap="none" spc="0">
              <a:solidFill>
                <a:schemeClr val="bg1"/>
              </a:solidFill>
              <a:latin typeface="Adwaita Sans"/>
              <a:cs typeface="Adwaita Sans"/>
            </a:endParaRPr>
          </a:p>
          <a:p>
            <a:pPr marL="239819" marR="0" indent="-239819" algn="l" defTabSz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Wingdings"/>
              <a:buChar char="ü"/>
              <a:defRPr/>
            </a:pPr>
            <a:r>
              <a:rPr sz="1600" b="0" i="0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Ottimizzazione ricerca UTXO set</a:t>
            </a:r>
            <a:endParaRPr sz="1600" b="0" i="0" strike="noStrike" cap="none" spc="0">
              <a:solidFill>
                <a:schemeClr val="bg1"/>
              </a:solidFill>
              <a:latin typeface="Adwaita Sans"/>
              <a:cs typeface="Adwaita Sans"/>
            </a:endParaRPr>
          </a:p>
          <a:p>
            <a:pPr marL="239819" marR="0" indent="-239819" algn="l" defTabSz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Wingdings"/>
              <a:buChar char="ü"/>
              <a:defRPr/>
            </a:pPr>
            <a:r>
              <a:rPr sz="1600" b="0" i="0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Ottimizzazione/implementazione di ulteriori algoritmi di Coin Selection</a:t>
            </a:r>
            <a:endParaRPr sz="1600" b="0" i="0" strike="noStrike" cap="none" spc="0">
              <a:solidFill>
                <a:schemeClr val="bg1"/>
              </a:solidFill>
              <a:latin typeface="Adwaita Sans"/>
              <a:cs typeface="Adwaita Sans"/>
            </a:endParaRPr>
          </a:p>
          <a:p>
            <a:pPr marL="239819" marR="0" indent="-239819" algn="l" defTabSz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Wingdings"/>
              <a:buChar char="ü"/>
              <a:defRPr/>
            </a:pPr>
            <a:r>
              <a:rPr sz="1600" b="0" i="0" strike="noStrike" cap="none" spc="0">
                <a:solidFill>
                  <a:schemeClr val="bg1"/>
                </a:solidFill>
                <a:latin typeface="Adwaita Sans"/>
                <a:cs typeface="Adwaita Sans"/>
              </a:rPr>
              <a:t>Implementazione Interfaccia Grafica</a:t>
            </a:r>
            <a:endParaRPr sz="1600" b="0" i="0" strike="noStrike" cap="none" spc="0">
              <a:solidFill>
                <a:schemeClr val="bg1"/>
              </a:solidFill>
              <a:latin typeface="Adwaita Sans"/>
              <a:cs typeface="Adwaita Sans"/>
            </a:endParaRPr>
          </a:p>
          <a:p>
            <a:pPr marL="239819" marR="0" indent="-239819" algn="l" defTabSz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Wingdings"/>
              <a:buChar char="ü"/>
              <a:defRPr/>
            </a:pPr>
            <a:endParaRPr sz="1600" b="1" i="0" strike="noStrike" cap="none" spc="0">
              <a:solidFill>
                <a:schemeClr val="bg1"/>
              </a:solidFill>
              <a:latin typeface="Adwaita Sans"/>
              <a:cs typeface="Adwaita Sans"/>
            </a:endParaRPr>
          </a:p>
          <a:p>
            <a:pPr algn="l" defTabSz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sz="1600" b="0" i="0" strike="noStrike" cap="none" spc="0">
              <a:solidFill>
                <a:schemeClr val="bg1"/>
              </a:solidFill>
              <a:latin typeface="Adwaita Sans"/>
              <a:cs typeface="Adwaita Sans"/>
            </a:endParaRPr>
          </a:p>
        </p:txBody>
      </p:sp>
      <p:pic>
        <p:nvPicPr>
          <p:cNvPr id="1915079288" name="Google Shape;250;p20" descr="image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466724" y="576261"/>
            <a:ext cx="304799" cy="266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18</Slides>
  <Notes>18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6</cp:revision>
  <dcterms:modified xsi:type="dcterms:W3CDTF">2026-09-30T07:37:08Z</dcterms:modified>
</cp:coreProperties>
</file>